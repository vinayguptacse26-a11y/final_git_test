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08" r:id="rId2"/>
  </p:sldMasterIdLst>
  <p:notesMasterIdLst>
    <p:notesMasterId r:id="rId20"/>
  </p:notesMasterIdLst>
  <p:handoutMasterIdLst>
    <p:handoutMasterId r:id="rId21"/>
  </p:handoutMasterIdLst>
  <p:sldIdLst>
    <p:sldId id="256" r:id="rId3"/>
    <p:sldId id="291" r:id="rId4"/>
    <p:sldId id="316" r:id="rId5"/>
    <p:sldId id="317" r:id="rId6"/>
    <p:sldId id="329" r:id="rId7"/>
    <p:sldId id="319" r:id="rId8"/>
    <p:sldId id="320" r:id="rId9"/>
    <p:sldId id="321" r:id="rId10"/>
    <p:sldId id="322" r:id="rId11"/>
    <p:sldId id="323" r:id="rId12"/>
    <p:sldId id="324" r:id="rId13"/>
    <p:sldId id="330" r:id="rId14"/>
    <p:sldId id="331" r:id="rId15"/>
    <p:sldId id="332" r:id="rId16"/>
    <p:sldId id="325" r:id="rId17"/>
    <p:sldId id="326" r:id="rId18"/>
    <p:sldId id="327" r:id="rId19"/>
  </p:sldIdLst>
  <p:sldSz cx="10080625" cy="7559675"/>
  <p:notesSz cx="7772400" cy="10025063"/>
  <p:defaultTextStyle>
    <a:defPPr>
      <a:defRPr lang="en-GB"/>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DACA93-C6F1-47FE-A10A-3805AC4F70F5}" v="6" dt="2025-11-01T04:33:28.9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2153" autoAdjust="0"/>
    <p:restoredTop sz="90929"/>
  </p:normalViewPr>
  <p:slideViewPr>
    <p:cSldViewPr>
      <p:cViewPr varScale="1">
        <p:scale>
          <a:sx n="85" d="100"/>
          <a:sy n="85" d="100"/>
        </p:scale>
        <p:origin x="-907" y="-77"/>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gupta" userId="6115fe88769f069e" providerId="LiveId" clId="{58BA708E-9887-4FFA-A1D5-F69CD0F53E85}"/>
    <pc:docChg chg="custSel addSld delSld modSld sldOrd">
      <pc:chgData name="vinay gupta" userId="6115fe88769f069e" providerId="LiveId" clId="{58BA708E-9887-4FFA-A1D5-F69CD0F53E85}" dt="2025-11-01T04:34:13.751" v="263" actId="47"/>
      <pc:docMkLst>
        <pc:docMk/>
      </pc:docMkLst>
      <pc:sldChg chg="add ord">
        <pc:chgData name="vinay gupta" userId="6115fe88769f069e" providerId="LiveId" clId="{58BA708E-9887-4FFA-A1D5-F69CD0F53E85}" dt="2025-11-01T04:33:40.912" v="260"/>
        <pc:sldMkLst>
          <pc:docMk/>
          <pc:sldMk cId="0" sldId="256"/>
        </pc:sldMkLst>
      </pc:sldChg>
      <pc:sldChg chg="del">
        <pc:chgData name="vinay gupta" userId="6115fe88769f069e" providerId="LiveId" clId="{58BA708E-9887-4FFA-A1D5-F69CD0F53E85}" dt="2025-11-01T04:33:51.693" v="261" actId="47"/>
        <pc:sldMkLst>
          <pc:docMk/>
          <pc:sldMk cId="0" sldId="292"/>
        </pc:sldMkLst>
      </pc:sldChg>
      <pc:sldChg chg="addSp modSp new del">
        <pc:chgData name="vinay gupta" userId="6115fe88769f069e" providerId="LiveId" clId="{58BA708E-9887-4FFA-A1D5-F69CD0F53E85}" dt="2025-11-01T04:33:55.360" v="262" actId="47"/>
        <pc:sldMkLst>
          <pc:docMk/>
          <pc:sldMk cId="3022055189" sldId="328"/>
        </pc:sldMkLst>
        <pc:spChg chg="add mod">
          <ac:chgData name="vinay gupta" userId="6115fe88769f069e" providerId="LiveId" clId="{58BA708E-9887-4FFA-A1D5-F69CD0F53E85}" dt="2025-11-01T04:24:56.347" v="1"/>
          <ac:spMkLst>
            <pc:docMk/>
            <pc:sldMk cId="3022055189" sldId="328"/>
            <ac:spMk id="2" creationId="{BBBC6D39-E7D5-5A64-4E85-7096AA865A0B}"/>
          </ac:spMkLst>
        </pc:spChg>
        <pc:spChg chg="add mod">
          <ac:chgData name="vinay gupta" userId="6115fe88769f069e" providerId="LiveId" clId="{58BA708E-9887-4FFA-A1D5-F69CD0F53E85}" dt="2025-11-01T04:24:56.347" v="1"/>
          <ac:spMkLst>
            <pc:docMk/>
            <pc:sldMk cId="3022055189" sldId="328"/>
            <ac:spMk id="3" creationId="{210C76A6-057E-6825-2BAC-4D9AC474275B}"/>
          </ac:spMkLst>
        </pc:spChg>
        <pc:spChg chg="add mod">
          <ac:chgData name="vinay gupta" userId="6115fe88769f069e" providerId="LiveId" clId="{58BA708E-9887-4FFA-A1D5-F69CD0F53E85}" dt="2025-11-01T04:24:56.347" v="1"/>
          <ac:spMkLst>
            <pc:docMk/>
            <pc:sldMk cId="3022055189" sldId="328"/>
            <ac:spMk id="4" creationId="{0C950280-05E3-EC30-9579-B5BC617DD6A7}"/>
          </ac:spMkLst>
        </pc:spChg>
        <pc:spChg chg="add mod">
          <ac:chgData name="vinay gupta" userId="6115fe88769f069e" providerId="LiveId" clId="{58BA708E-9887-4FFA-A1D5-F69CD0F53E85}" dt="2025-11-01T04:24:56.347" v="1"/>
          <ac:spMkLst>
            <pc:docMk/>
            <pc:sldMk cId="3022055189" sldId="328"/>
            <ac:spMk id="5" creationId="{962C6E7D-FFA9-E762-A2C8-71C469AA179C}"/>
          </ac:spMkLst>
        </pc:spChg>
        <pc:spChg chg="add mod">
          <ac:chgData name="vinay gupta" userId="6115fe88769f069e" providerId="LiveId" clId="{58BA708E-9887-4FFA-A1D5-F69CD0F53E85}" dt="2025-11-01T04:24:56.347" v="1"/>
          <ac:spMkLst>
            <pc:docMk/>
            <pc:sldMk cId="3022055189" sldId="328"/>
            <ac:spMk id="6" creationId="{9313AE96-25F7-C163-116A-1B56755F2FF1}"/>
          </ac:spMkLst>
        </pc:spChg>
        <pc:picChg chg="add mod">
          <ac:chgData name="vinay gupta" userId="6115fe88769f069e" providerId="LiveId" clId="{58BA708E-9887-4FFA-A1D5-F69CD0F53E85}" dt="2025-11-01T04:24:56.347" v="1"/>
          <ac:picMkLst>
            <pc:docMk/>
            <pc:sldMk cId="3022055189" sldId="328"/>
            <ac:picMk id="7" creationId="{3BAB8149-0C37-9589-D9D3-206B494ABDE4}"/>
          </ac:picMkLst>
        </pc:picChg>
      </pc:sldChg>
      <pc:sldChg chg="add">
        <pc:chgData name="vinay gupta" userId="6115fe88769f069e" providerId="LiveId" clId="{58BA708E-9887-4FFA-A1D5-F69CD0F53E85}" dt="2025-11-01T04:25:17.663" v="2" actId="2890"/>
        <pc:sldMkLst>
          <pc:docMk/>
          <pc:sldMk cId="2982663300" sldId="329"/>
        </pc:sldMkLst>
      </pc:sldChg>
      <pc:sldChg chg="addSp delSp modSp new del mod setBg">
        <pc:chgData name="vinay gupta" userId="6115fe88769f069e" providerId="LiveId" clId="{58BA708E-9887-4FFA-A1D5-F69CD0F53E85}" dt="2025-11-01T04:34:13.751" v="263" actId="47"/>
        <pc:sldMkLst>
          <pc:docMk/>
          <pc:sldMk cId="2089438726" sldId="330"/>
        </pc:sldMkLst>
        <pc:spChg chg="add mod">
          <ac:chgData name="vinay gupta" userId="6115fe88769f069e" providerId="LiveId" clId="{58BA708E-9887-4FFA-A1D5-F69CD0F53E85}" dt="2025-11-01T04:32:56.854" v="257" actId="20577"/>
          <ac:spMkLst>
            <pc:docMk/>
            <pc:sldMk cId="2089438726" sldId="330"/>
            <ac:spMk id="2" creationId="{2AD44F26-1A72-ADE6-BED8-4B5F73B4F800}"/>
          </ac:spMkLst>
        </pc:spChg>
        <pc:spChg chg="add del mod">
          <ac:chgData name="vinay gupta" userId="6115fe88769f069e" providerId="LiveId" clId="{58BA708E-9887-4FFA-A1D5-F69CD0F53E85}" dt="2025-11-01T04:32:41.508" v="176" actId="478"/>
          <ac:spMkLst>
            <pc:docMk/>
            <pc:sldMk cId="2089438726" sldId="330"/>
            <ac:spMk id="3" creationId="{FABE42D7-CDE9-9DFB-BB2A-609084E00012}"/>
          </ac:spMkLst>
        </pc:spChg>
        <pc:spChg chg="add del mod">
          <ac:chgData name="vinay gupta" userId="6115fe88769f069e" providerId="LiveId" clId="{58BA708E-9887-4FFA-A1D5-F69CD0F53E85}" dt="2025-11-01T04:32:19.022" v="159"/>
          <ac:spMkLst>
            <pc:docMk/>
            <pc:sldMk cId="2089438726" sldId="330"/>
            <ac:spMk id="4" creationId="{B49636EE-F190-24E3-74E1-615222D632B5}"/>
          </ac:spMkLst>
        </pc:spChg>
        <pc:spChg chg="add del mod">
          <ac:chgData name="vinay gupta" userId="6115fe88769f069e" providerId="LiveId" clId="{58BA708E-9887-4FFA-A1D5-F69CD0F53E85}" dt="2025-11-01T04:32:11.220" v="67"/>
          <ac:spMkLst>
            <pc:docMk/>
            <pc:sldMk cId="2089438726" sldId="330"/>
            <ac:spMk id="5" creationId="{02B25FF7-55BC-B6F1-45CC-9B0B3B26EF61}"/>
          </ac:spMkLst>
        </pc:spChg>
        <pc:spChg chg="add del mod">
          <ac:chgData name="vinay gupta" userId="6115fe88769f069e" providerId="LiveId" clId="{58BA708E-9887-4FFA-A1D5-F69CD0F53E85}" dt="2025-11-01T04:32:38.930" v="175" actId="478"/>
          <ac:spMkLst>
            <pc:docMk/>
            <pc:sldMk cId="2089438726" sldId="330"/>
            <ac:spMk id="6" creationId="{B6C14EDE-39D5-63B6-D47B-BEEDF2B2BE14}"/>
          </ac:spMkLst>
        </pc:spChg>
        <pc:picChg chg="add del mod">
          <ac:chgData name="vinay gupta" userId="6115fe88769f069e" providerId="LiveId" clId="{58BA708E-9887-4FFA-A1D5-F69CD0F53E85}" dt="2025-11-01T04:32:19.022" v="157" actId="478"/>
          <ac:picMkLst>
            <pc:docMk/>
            <pc:sldMk cId="2089438726" sldId="330"/>
            <ac:picMk id="7" creationId="{4D034A0F-805C-E3AA-95B3-3BC0A48E7F3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16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4402138" y="0"/>
            <a:ext cx="3368675" cy="501650"/>
          </a:xfrm>
          <a:prstGeom prst="rect">
            <a:avLst/>
          </a:prstGeom>
        </p:spPr>
        <p:txBody>
          <a:bodyPr vert="horz" lIns="91440" tIns="45720" rIns="91440" bIns="45720" rtlCol="0"/>
          <a:lstStyle>
            <a:lvl1pPr algn="r">
              <a:defRPr sz="1200"/>
            </a:lvl1pPr>
          </a:lstStyle>
          <a:p>
            <a:fld id="{9805B0B3-166E-4B00-A93A-02396BF50277}" type="datetimeFigureOut">
              <a:rPr lang="en-US" smtClean="0"/>
              <a:pPr/>
              <a:t>11/5/2025</a:t>
            </a:fld>
            <a:endParaRPr lang="en-US" dirty="0"/>
          </a:p>
        </p:txBody>
      </p:sp>
      <p:sp>
        <p:nvSpPr>
          <p:cNvPr id="4" name="Footer Placeholder 3"/>
          <p:cNvSpPr>
            <a:spLocks noGrp="1"/>
          </p:cNvSpPr>
          <p:nvPr>
            <p:ph type="ftr" sz="quarter" idx="2"/>
          </p:nvPr>
        </p:nvSpPr>
        <p:spPr>
          <a:xfrm>
            <a:off x="0" y="9521825"/>
            <a:ext cx="3368675" cy="50165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4402138" y="9521825"/>
            <a:ext cx="3368675" cy="501650"/>
          </a:xfrm>
          <a:prstGeom prst="rect">
            <a:avLst/>
          </a:prstGeom>
        </p:spPr>
        <p:txBody>
          <a:bodyPr vert="horz" lIns="91440" tIns="45720" rIns="91440" bIns="45720" rtlCol="0" anchor="b"/>
          <a:lstStyle>
            <a:lvl1pPr algn="r">
              <a:defRPr sz="1200"/>
            </a:lvl1pPr>
          </a:lstStyle>
          <a:p>
            <a:fld id="{D066ED77-972E-49B8-AD19-70195E733580}" type="slidenum">
              <a:rPr lang="en-US" smtClean="0"/>
              <a:pPr/>
              <a:t>‹#›</a:t>
            </a:fld>
            <a:endParaRPr lang="en-US" dirty="0"/>
          </a:p>
        </p:txBody>
      </p:sp>
    </p:spTree>
    <p:extLst>
      <p:ext uri="{BB962C8B-B14F-4D97-AF65-F5344CB8AC3E}">
        <p14:creationId xmlns:p14="http://schemas.microsoft.com/office/powerpoint/2010/main" xmlns="" val="17829285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p:cNvSpPr>
            <a:spLocks noGrp="1" noRot="1" noChangeAspect="1" noChangeArrowheads="1"/>
          </p:cNvSpPr>
          <p:nvPr>
            <p:ph type="sldImg"/>
          </p:nvPr>
        </p:nvSpPr>
        <p:spPr bwMode="auto">
          <a:xfrm>
            <a:off x="1597025" y="1004888"/>
            <a:ext cx="4576763" cy="3432175"/>
          </a:xfrm>
          <a:prstGeom prst="rect">
            <a:avLst/>
          </a:prstGeom>
          <a:solidFill>
            <a:srgbClr val="FFFFFF"/>
          </a:solidFill>
          <a:ln w="9525">
            <a:noFill/>
            <a:miter lim="800000"/>
            <a:headEnd/>
            <a:tailEnd/>
          </a:ln>
        </p:spPr>
      </p:sp>
      <p:sp>
        <p:nvSpPr>
          <p:cNvPr id="2050" name="Rectangle 2"/>
          <p:cNvSpPr txBox="1">
            <a:spLocks noGrp="1" noChangeArrowheads="1"/>
          </p:cNvSpPr>
          <p:nvPr>
            <p:ph type="body" idx="1"/>
          </p:nvPr>
        </p:nvSpPr>
        <p:spPr bwMode="auto">
          <a:xfrm>
            <a:off x="1185863" y="4772025"/>
            <a:ext cx="5405437" cy="3810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a:p>
        </p:txBody>
      </p:sp>
    </p:spTree>
    <p:extLst>
      <p:ext uri="{BB962C8B-B14F-4D97-AF65-F5344CB8AC3E}">
        <p14:creationId xmlns:p14="http://schemas.microsoft.com/office/powerpoint/2010/main" xmlns="" val="1435868869"/>
      </p:ext>
    </p:extLst>
  </p:cSld>
  <p:clrMap bg1="lt1" tx1="dk1" bg2="lt2" tx2="dk2" accent1="accent1" accent2="accent2" accent3="accent3" accent4="accent4" accent5="accent5" accent6="accent6" hlink="hlink" folHlink="folHlink"/>
  <p:hf sldNum="0" hdr="0" ftr="0" dt="0"/>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4E6B6-F505-444E-87D5-AB366282E67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xmlns="" val="1152043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p:sp>
      <p:sp>
        <p:nvSpPr>
          <p:cNvPr id="6147" name="Notes Placeholder 2"/>
          <p:cNvSpPr txBox="1">
            <a:spLocks noGrp="1"/>
          </p:cNvSpPr>
          <p:nvPr>
            <p:ph type="body" idx="1"/>
          </p:nvPr>
        </p:nvSpPr>
        <p:spPr>
          <a:noFill/>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888" y="4283075"/>
            <a:ext cx="7056437" cy="1931988"/>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04825" y="1763713"/>
            <a:ext cx="9072563" cy="49895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6925" y="3203575"/>
            <a:ext cx="8567738" cy="16541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04825" y="1763713"/>
            <a:ext cx="4459288"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6513" y="1763713"/>
            <a:ext cx="4460875"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825" y="1692275"/>
            <a:ext cx="4452938"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1275" y="1692275"/>
            <a:ext cx="4456113"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41763" y="301625"/>
            <a:ext cx="5635625" cy="64516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825" y="1581150"/>
            <a:ext cx="3316288" cy="51720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6438" y="674688"/>
            <a:ext cx="6048375" cy="45370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976438" y="5916613"/>
            <a:ext cx="6048375" cy="887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04825" y="1763713"/>
            <a:ext cx="9072563" cy="49895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0438" y="303213"/>
            <a:ext cx="2266950" cy="645001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04825" y="303213"/>
            <a:ext cx="6653213" cy="64500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6047" y="2348400"/>
            <a:ext cx="8568531" cy="1620430"/>
          </a:xfrm>
        </p:spPr>
        <p:txBody>
          <a:bodyPr/>
          <a:lstStyle/>
          <a:p>
            <a:r>
              <a:rPr lang="en-US"/>
              <a:t>Click to edit Master title style</a:t>
            </a:r>
          </a:p>
        </p:txBody>
      </p:sp>
      <p:sp>
        <p:nvSpPr>
          <p:cNvPr id="3" name="Subtitle 2"/>
          <p:cNvSpPr>
            <a:spLocks noGrp="1"/>
          </p:cNvSpPr>
          <p:nvPr>
            <p:ph type="subTitle" idx="1"/>
          </p:nvPr>
        </p:nvSpPr>
        <p:spPr>
          <a:xfrm>
            <a:off x="1512094" y="4283816"/>
            <a:ext cx="7056438" cy="1931917"/>
          </a:xfrm>
        </p:spPr>
        <p:txBody>
          <a:bodyPr/>
          <a:lstStyle>
            <a:lvl1pPr marL="0" indent="0" algn="ctr">
              <a:buNone/>
              <a:defRPr>
                <a:solidFill>
                  <a:schemeClr val="tx1">
                    <a:tint val="75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F8E261E-4F2B-4FFC-B0D8-B739F593650D}"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1990177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8E261E-4F2B-4FFC-B0D8-B739F593650D}"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3840925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300" y="4857792"/>
            <a:ext cx="8568531" cy="1501435"/>
          </a:xfrm>
        </p:spPr>
        <p:txBody>
          <a:bodyPr anchor="t"/>
          <a:lstStyle>
            <a:lvl1pPr algn="l">
              <a:defRPr sz="4409" b="1" cap="all"/>
            </a:lvl1pPr>
          </a:lstStyle>
          <a:p>
            <a:r>
              <a:rPr lang="en-US"/>
              <a:t>Click to edit Master title style</a:t>
            </a:r>
          </a:p>
        </p:txBody>
      </p:sp>
      <p:sp>
        <p:nvSpPr>
          <p:cNvPr id="3" name="Text Placeholder 2"/>
          <p:cNvSpPr>
            <a:spLocks noGrp="1"/>
          </p:cNvSpPr>
          <p:nvPr>
            <p:ph type="body" idx="1"/>
          </p:nvPr>
        </p:nvSpPr>
        <p:spPr>
          <a:xfrm>
            <a:off x="796300" y="3204114"/>
            <a:ext cx="8568531" cy="1653678"/>
          </a:xfrm>
        </p:spPr>
        <p:txBody>
          <a:bodyPr anchor="b"/>
          <a:lstStyle>
            <a:lvl1pPr marL="0" indent="0">
              <a:buNone/>
              <a:defRPr sz="2205">
                <a:solidFill>
                  <a:schemeClr val="tx1">
                    <a:tint val="7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8E261E-4F2B-4FFC-B0D8-B739F593650D}"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649990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4031" y="1763925"/>
            <a:ext cx="4452276" cy="4989036"/>
          </a:xfrm>
        </p:spPr>
        <p:txBody>
          <a:bodyPr/>
          <a:lstStyle>
            <a:lvl1pPr>
              <a:defRPr sz="3086"/>
            </a:lvl1pPr>
            <a:lvl2pPr>
              <a:defRPr sz="2646"/>
            </a:lvl2pPr>
            <a:lvl3pPr>
              <a:defRPr sz="2205"/>
            </a:lvl3pPr>
            <a:lvl4pPr>
              <a:defRPr sz="1984"/>
            </a:lvl4pPr>
            <a:lvl5pPr>
              <a:defRPr sz="1984"/>
            </a:lvl5pPr>
            <a:lvl6pPr>
              <a:defRPr sz="1984"/>
            </a:lvl6pPr>
            <a:lvl7pPr>
              <a:defRPr sz="1984"/>
            </a:lvl7pPr>
            <a:lvl8pPr>
              <a:defRPr sz="1984"/>
            </a:lvl8pPr>
            <a:lvl9pPr>
              <a:defRPr sz="198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24318" y="1763925"/>
            <a:ext cx="4452276" cy="4989036"/>
          </a:xfrm>
        </p:spPr>
        <p:txBody>
          <a:bodyPr/>
          <a:lstStyle>
            <a:lvl1pPr>
              <a:defRPr sz="3086"/>
            </a:lvl1pPr>
            <a:lvl2pPr>
              <a:defRPr sz="2646"/>
            </a:lvl2pPr>
            <a:lvl3pPr>
              <a:defRPr sz="2205"/>
            </a:lvl3pPr>
            <a:lvl4pPr>
              <a:defRPr sz="1984"/>
            </a:lvl4pPr>
            <a:lvl5pPr>
              <a:defRPr sz="1984"/>
            </a:lvl5pPr>
            <a:lvl6pPr>
              <a:defRPr sz="1984"/>
            </a:lvl6pPr>
            <a:lvl7pPr>
              <a:defRPr sz="1984"/>
            </a:lvl7pPr>
            <a:lvl8pPr>
              <a:defRPr sz="1984"/>
            </a:lvl8pPr>
            <a:lvl9pPr>
              <a:defRPr sz="198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F8E261E-4F2B-4FFC-B0D8-B739F593650D}"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11988457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031" y="1692178"/>
            <a:ext cx="4454027" cy="705219"/>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504031" y="2397397"/>
            <a:ext cx="4454027" cy="4355563"/>
          </a:xfrm>
        </p:spPr>
        <p:txBody>
          <a:bodyPr/>
          <a:lstStyle>
            <a:lvl1pPr>
              <a:defRPr sz="2646"/>
            </a:lvl1pPr>
            <a:lvl2pPr>
              <a:defRPr sz="2205"/>
            </a:lvl2pPr>
            <a:lvl3pPr>
              <a:defRPr sz="1984"/>
            </a:lvl3pPr>
            <a:lvl4pPr>
              <a:defRPr sz="1764"/>
            </a:lvl4pPr>
            <a:lvl5pPr>
              <a:defRPr sz="1764"/>
            </a:lvl5pPr>
            <a:lvl6pPr>
              <a:defRPr sz="1764"/>
            </a:lvl6pPr>
            <a:lvl7pPr>
              <a:defRPr sz="1764"/>
            </a:lvl7pPr>
            <a:lvl8pPr>
              <a:defRPr sz="1764"/>
            </a:lvl8pPr>
            <a:lvl9pPr>
              <a:defRPr sz="17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0818" y="1692178"/>
            <a:ext cx="4455776" cy="705219"/>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5120818" y="2397397"/>
            <a:ext cx="4455776" cy="4355563"/>
          </a:xfrm>
        </p:spPr>
        <p:txBody>
          <a:bodyPr/>
          <a:lstStyle>
            <a:lvl1pPr>
              <a:defRPr sz="2646"/>
            </a:lvl1pPr>
            <a:lvl2pPr>
              <a:defRPr sz="2205"/>
            </a:lvl2pPr>
            <a:lvl3pPr>
              <a:defRPr sz="1984"/>
            </a:lvl3pPr>
            <a:lvl4pPr>
              <a:defRPr sz="1764"/>
            </a:lvl4pPr>
            <a:lvl5pPr>
              <a:defRPr sz="1764"/>
            </a:lvl5pPr>
            <a:lvl6pPr>
              <a:defRPr sz="1764"/>
            </a:lvl6pPr>
            <a:lvl7pPr>
              <a:defRPr sz="1764"/>
            </a:lvl7pPr>
            <a:lvl8pPr>
              <a:defRPr sz="1764"/>
            </a:lvl8pPr>
            <a:lvl9pPr>
              <a:defRPr sz="17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F8E261E-4F2B-4FFC-B0D8-B739F593650D}"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36255697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F8E261E-4F2B-4FFC-B0D8-B739F593650D}"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3592286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8E261E-4F2B-4FFC-B0D8-B739F593650D}"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20242911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032" y="300987"/>
            <a:ext cx="3316456" cy="1280945"/>
          </a:xfrm>
        </p:spPr>
        <p:txBody>
          <a:bodyPr anchor="b"/>
          <a:lstStyle>
            <a:lvl1pPr algn="l">
              <a:defRPr sz="2205" b="1"/>
            </a:lvl1pPr>
          </a:lstStyle>
          <a:p>
            <a:r>
              <a:rPr lang="en-US"/>
              <a:t>Click to edit Master title style</a:t>
            </a:r>
          </a:p>
        </p:txBody>
      </p:sp>
      <p:sp>
        <p:nvSpPr>
          <p:cNvPr id="3" name="Content Placeholder 2"/>
          <p:cNvSpPr>
            <a:spLocks noGrp="1"/>
          </p:cNvSpPr>
          <p:nvPr>
            <p:ph idx="1"/>
          </p:nvPr>
        </p:nvSpPr>
        <p:spPr>
          <a:xfrm>
            <a:off x="3941245" y="300988"/>
            <a:ext cx="5635349" cy="6451973"/>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032" y="1581933"/>
            <a:ext cx="3316456" cy="5171028"/>
          </a:xfrm>
        </p:spPr>
        <p:txBody>
          <a:bodyPr/>
          <a:lstStyle>
            <a:lvl1pPr marL="0" indent="0">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EF8E261E-4F2B-4FFC-B0D8-B739F593650D}"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1404821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5873" y="5291772"/>
            <a:ext cx="6048375" cy="624724"/>
          </a:xfrm>
        </p:spPr>
        <p:txBody>
          <a:bodyPr anchor="b"/>
          <a:lstStyle>
            <a:lvl1pPr algn="l">
              <a:defRPr sz="2205" b="1"/>
            </a:lvl1pPr>
          </a:lstStyle>
          <a:p>
            <a:r>
              <a:rPr lang="en-US"/>
              <a:t>Click to edit Master title style</a:t>
            </a:r>
          </a:p>
        </p:txBody>
      </p:sp>
      <p:sp>
        <p:nvSpPr>
          <p:cNvPr id="3" name="Picture Placeholder 2"/>
          <p:cNvSpPr>
            <a:spLocks noGrp="1"/>
          </p:cNvSpPr>
          <p:nvPr>
            <p:ph type="pic" idx="1"/>
          </p:nvPr>
        </p:nvSpPr>
        <p:spPr>
          <a:xfrm>
            <a:off x="1975873" y="675471"/>
            <a:ext cx="6048375" cy="4535805"/>
          </a:xfrm>
        </p:spPr>
        <p:txBody>
          <a:bodyPr/>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endParaRPr lang="en-US"/>
          </a:p>
        </p:txBody>
      </p:sp>
      <p:sp>
        <p:nvSpPr>
          <p:cNvPr id="4" name="Text Placeholder 3"/>
          <p:cNvSpPr>
            <a:spLocks noGrp="1"/>
          </p:cNvSpPr>
          <p:nvPr>
            <p:ph type="body" sz="half" idx="2"/>
          </p:nvPr>
        </p:nvSpPr>
        <p:spPr>
          <a:xfrm>
            <a:off x="1975873" y="5916496"/>
            <a:ext cx="6048375" cy="887211"/>
          </a:xfrm>
        </p:spPr>
        <p:txBody>
          <a:bodyPr/>
          <a:lstStyle>
            <a:lvl1pPr marL="0" indent="0">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EF8E261E-4F2B-4FFC-B0D8-B739F593650D}"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35496953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8E261E-4F2B-4FFC-B0D8-B739F593650D}"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31114142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8453" y="302738"/>
            <a:ext cx="2268141" cy="645022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4031" y="302738"/>
            <a:ext cx="6636411" cy="64502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8E261E-4F2B-4FFC-B0D8-B739F593650D}"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289085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0000"/>
            <a:lum/>
          </a:blip>
          <a:srcRect/>
          <a:stretch>
            <a:fillRect l="-2000" r="-2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mj-lt"/>
          <a:ea typeface="+mj-ea"/>
          <a:cs typeface="+mj-cs"/>
        </a:defRPr>
      </a:lvl1pPr>
      <a:lvl2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2pPr>
      <a:lvl3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3pPr>
      <a:lvl4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4pPr>
      <a:lvl5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5pPr>
      <a:lvl6pPr marL="18970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6pPr>
      <a:lvl7pPr marL="23542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7pPr>
      <a:lvl8pPr marL="28114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8pPr>
      <a:lvl9pPr marL="32686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9pPr>
    </p:titleStyle>
    <p:bodyStyle>
      <a:lvl1pPr marL="431800" indent="-323850" algn="l" defTabSz="457200" rtl="0" eaLnBrk="0" fontAlgn="base" hangingPunct="0">
        <a:spcBef>
          <a:spcPct val="0"/>
        </a:spcBef>
        <a:spcAft>
          <a:spcPts val="1413"/>
        </a:spcAft>
        <a:buClr>
          <a:srgbClr val="000000"/>
        </a:buClr>
        <a:buSzPct val="45000"/>
        <a:buFont typeface="StarBats" charset="0"/>
        <a:buChar char="&quot;"/>
        <a:defRPr sz="3200">
          <a:solidFill>
            <a:srgbClr val="000000"/>
          </a:solidFill>
          <a:latin typeface="+mn-lt"/>
          <a:ea typeface="+mn-ea"/>
          <a:cs typeface="+mn-cs"/>
        </a:defRPr>
      </a:lvl1pPr>
      <a:lvl2pPr marL="863600" indent="-287338" algn="l" defTabSz="457200" rtl="0" eaLnBrk="0" fontAlgn="base" hangingPunct="0">
        <a:spcBef>
          <a:spcPct val="0"/>
        </a:spcBef>
        <a:spcAft>
          <a:spcPts val="1125"/>
        </a:spcAft>
        <a:buClr>
          <a:srgbClr val="000000"/>
        </a:buClr>
        <a:buSzPct val="75000"/>
        <a:buFont typeface="StarBats" charset="0"/>
        <a:buChar char=""/>
        <a:defRPr sz="2800">
          <a:solidFill>
            <a:srgbClr val="000000"/>
          </a:solidFill>
          <a:latin typeface="+mn-lt"/>
        </a:defRPr>
      </a:lvl2pPr>
      <a:lvl3pPr marL="1295400" indent="-215900" algn="l" defTabSz="457200" rtl="0" eaLnBrk="0" fontAlgn="base" hangingPunct="0">
        <a:spcBef>
          <a:spcPct val="0"/>
        </a:spcBef>
        <a:spcAft>
          <a:spcPts val="850"/>
        </a:spcAft>
        <a:buClr>
          <a:srgbClr val="000000"/>
        </a:buClr>
        <a:buSzPct val="45000"/>
        <a:buFont typeface="StarBats" charset="0"/>
        <a:buChar char="&quot;"/>
        <a:defRPr sz="2400">
          <a:solidFill>
            <a:srgbClr val="000000"/>
          </a:solidFill>
          <a:latin typeface="+mn-lt"/>
        </a:defRPr>
      </a:lvl3pPr>
      <a:lvl4pPr marL="1727200" indent="-215900" algn="l" defTabSz="457200" rtl="0" eaLnBrk="0" fontAlgn="base" hangingPunct="0">
        <a:spcBef>
          <a:spcPct val="0"/>
        </a:spcBef>
        <a:spcAft>
          <a:spcPts val="563"/>
        </a:spcAft>
        <a:buClr>
          <a:srgbClr val="000000"/>
        </a:buClr>
        <a:buSzPct val="75000"/>
        <a:buFont typeface="StarBats" charset="0"/>
        <a:buChar char=""/>
        <a:defRPr sz="2000">
          <a:solidFill>
            <a:srgbClr val="000000"/>
          </a:solidFill>
          <a:latin typeface="+mn-lt"/>
        </a:defRPr>
      </a:lvl4pPr>
      <a:lvl5pPr marL="21590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5pPr>
      <a:lvl6pPr marL="26162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6pPr>
      <a:lvl7pPr marL="30734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7pPr>
      <a:lvl8pPr marL="35306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8pPr>
      <a:lvl9pPr marL="39878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31" y="302737"/>
            <a:ext cx="9072563" cy="125994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4031" y="1763925"/>
            <a:ext cx="9072563" cy="49890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4031" y="7006699"/>
            <a:ext cx="2352146"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EF8E261E-4F2B-4FFC-B0D8-B739F593650D}" type="datetimeFigureOut">
              <a:rPr lang="en-US" smtClean="0"/>
              <a:pPr/>
              <a:t>11/5/2025</a:t>
            </a:fld>
            <a:endParaRPr lang="en-US"/>
          </a:p>
        </p:txBody>
      </p:sp>
      <p:sp>
        <p:nvSpPr>
          <p:cNvPr id="5" name="Footer Placeholder 4"/>
          <p:cNvSpPr>
            <a:spLocks noGrp="1"/>
          </p:cNvSpPr>
          <p:nvPr>
            <p:ph type="ftr" sz="quarter" idx="3"/>
          </p:nvPr>
        </p:nvSpPr>
        <p:spPr>
          <a:xfrm>
            <a:off x="3444214" y="7006699"/>
            <a:ext cx="3192198"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24448" y="7006699"/>
            <a:ext cx="2352146"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562025A1-ED26-40F3-87A5-996479C069A8}" type="slidenum">
              <a:rPr lang="en-US" smtClean="0"/>
              <a:pPr/>
              <a:t>‹#›</a:t>
            </a:fld>
            <a:endParaRPr lang="en-US"/>
          </a:p>
        </p:txBody>
      </p:sp>
    </p:spTree>
    <p:extLst>
      <p:ext uri="{BB962C8B-B14F-4D97-AF65-F5344CB8AC3E}">
        <p14:creationId xmlns:p14="http://schemas.microsoft.com/office/powerpoint/2010/main" xmlns="" val="269315672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1007943" rtl="0" eaLnBrk="1" latinLnBrk="0" hangingPunct="1">
        <a:spcBef>
          <a:spcPct val="0"/>
        </a:spcBef>
        <a:buNone/>
        <a:defRPr sz="4850" kern="1200">
          <a:solidFill>
            <a:schemeClr val="tx1"/>
          </a:solidFill>
          <a:latin typeface="+mj-lt"/>
          <a:ea typeface="+mj-ea"/>
          <a:cs typeface="+mj-cs"/>
        </a:defRPr>
      </a:lvl1pPr>
    </p:titleStyle>
    <p:bodyStyle>
      <a:lvl1pPr marL="377979" indent="-377979" algn="l" defTabSz="1007943" rtl="0" eaLnBrk="1" latinLnBrk="0" hangingPunct="1">
        <a:spcBef>
          <a:spcPct val="20000"/>
        </a:spcBef>
        <a:buFont typeface="Arial" pitchFamily="34" charset="0"/>
        <a:buChar char="•"/>
        <a:defRPr sz="3527" kern="1200">
          <a:solidFill>
            <a:schemeClr val="tx1"/>
          </a:solidFill>
          <a:latin typeface="+mn-lt"/>
          <a:ea typeface="+mn-ea"/>
          <a:cs typeface="+mn-cs"/>
        </a:defRPr>
      </a:lvl1pPr>
      <a:lvl2pPr marL="818954" indent="-314982" algn="l" defTabSz="1007943" rtl="0" eaLnBrk="1" latinLnBrk="0" hangingPunct="1">
        <a:spcBef>
          <a:spcPct val="20000"/>
        </a:spcBef>
        <a:buFont typeface="Arial" pitchFamily="34" charset="0"/>
        <a:buChar char="–"/>
        <a:defRPr sz="3086" kern="1200">
          <a:solidFill>
            <a:schemeClr val="tx1"/>
          </a:solidFill>
          <a:latin typeface="+mn-lt"/>
          <a:ea typeface="+mn-ea"/>
          <a:cs typeface="+mn-cs"/>
        </a:defRPr>
      </a:lvl2pPr>
      <a:lvl3pPr marL="1259929" indent="-251986" algn="l" defTabSz="1007943" rtl="0" eaLnBrk="1" latinLnBrk="0" hangingPunct="1">
        <a:spcBef>
          <a:spcPct val="20000"/>
        </a:spcBef>
        <a:buFont typeface="Arial" pitchFamily="34" charset="0"/>
        <a:buChar char="•"/>
        <a:defRPr sz="2646" kern="1200">
          <a:solidFill>
            <a:schemeClr val="tx1"/>
          </a:solidFill>
          <a:latin typeface="+mn-lt"/>
          <a:ea typeface="+mn-ea"/>
          <a:cs typeface="+mn-cs"/>
        </a:defRPr>
      </a:lvl3pPr>
      <a:lvl4pPr marL="1763900"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4pPr>
      <a:lvl5pPr marL="2267872"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5pPr>
      <a:lvl6pPr marL="2771844"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6pPr>
      <a:lvl7pPr marL="3275815"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7pPr>
      <a:lvl8pPr marL="3779787"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8pPr>
      <a:lvl9pPr marL="4283758"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5321" y="419982"/>
            <a:ext cx="9659585" cy="755966"/>
          </a:xfrm>
        </p:spPr>
        <p:txBody>
          <a:bodyPr>
            <a:noAutofit/>
          </a:bodyPr>
          <a:lstStyle/>
          <a:p>
            <a:r>
              <a:rPr lang="en-US" b="1" dirty="0"/>
              <a:t/>
            </a:r>
            <a:br>
              <a:rPr lang="en-US" b="1" dirty="0"/>
            </a:br>
            <a:r>
              <a:rPr lang="en-US" sz="3968" b="1" dirty="0"/>
              <a:t>Jaipur Engineering College &amp; Research Centre</a:t>
            </a:r>
            <a:r>
              <a:rPr lang="en-US" b="1" dirty="0"/>
              <a:t/>
            </a:r>
            <a:br>
              <a:rPr lang="en-US" b="1" dirty="0"/>
            </a:br>
            <a:r>
              <a:rPr lang="en-US" b="1" dirty="0"/>
              <a:t> </a:t>
            </a:r>
            <a:r>
              <a:rPr lang="en-US" sz="2646" u="sng" dirty="0">
                <a:latin typeface="Times New Roman" panose="02020603050405020304" pitchFamily="18" charset="0"/>
                <a:cs typeface="Times New Roman" panose="02020603050405020304" pitchFamily="18" charset="0"/>
              </a:rPr>
              <a:t>Department of Computer Science and Engineering</a:t>
            </a:r>
          </a:p>
        </p:txBody>
      </p:sp>
      <p:sp>
        <p:nvSpPr>
          <p:cNvPr id="4" name="TextBox 3"/>
          <p:cNvSpPr txBox="1"/>
          <p:nvPr/>
        </p:nvSpPr>
        <p:spPr>
          <a:xfrm>
            <a:off x="1109281" y="2194004"/>
            <a:ext cx="7811664" cy="1720984"/>
          </a:xfrm>
          <a:prstGeom prst="rect">
            <a:avLst/>
          </a:prstGeom>
          <a:noFill/>
        </p:spPr>
        <p:txBody>
          <a:bodyPr wrap="square" rtlCol="0">
            <a:spAutoFit/>
          </a:bodyPr>
          <a:lstStyle/>
          <a:p>
            <a:pPr algn="ctr" defTabSz="1007943" eaLnBrk="1" fontAlgn="auto" hangingPunct="1">
              <a:spcBef>
                <a:spcPts val="0"/>
              </a:spcBef>
              <a:spcAft>
                <a:spcPts val="0"/>
              </a:spcAft>
            </a:pPr>
            <a:r>
              <a:rPr lang="en-US" sz="2205" dirty="0" smtClean="0">
                <a:solidFill>
                  <a:prstClr val="black"/>
                </a:solidFill>
                <a:cs typeface="Times New Roman" panose="02020603050405020304" pitchFamily="18" charset="0"/>
              </a:rPr>
              <a:t>A</a:t>
            </a:r>
            <a:endParaRPr lang="en-US" sz="2205" dirty="0">
              <a:solidFill>
                <a:prstClr val="black"/>
              </a:solidFill>
              <a:cs typeface="Times New Roman" panose="02020603050405020304" pitchFamily="18" charset="0"/>
            </a:endParaRPr>
          </a:p>
          <a:p>
            <a:pPr algn="ctr" defTabSz="1007943" eaLnBrk="1" fontAlgn="auto" hangingPunct="1">
              <a:spcBef>
                <a:spcPts val="0"/>
              </a:spcBef>
              <a:spcAft>
                <a:spcPts val="0"/>
              </a:spcAft>
            </a:pPr>
            <a:r>
              <a:rPr lang="en-US" sz="2205" dirty="0">
                <a:solidFill>
                  <a:prstClr val="black"/>
                </a:solidFill>
                <a:cs typeface="Times New Roman" panose="02020603050405020304" pitchFamily="18" charset="0"/>
              </a:rPr>
              <a:t>Seminar</a:t>
            </a:r>
          </a:p>
          <a:p>
            <a:pPr algn="ctr" defTabSz="1007943" eaLnBrk="1" fontAlgn="auto" hangingPunct="1">
              <a:spcBef>
                <a:spcPts val="0"/>
              </a:spcBef>
              <a:spcAft>
                <a:spcPts val="0"/>
              </a:spcAft>
            </a:pPr>
            <a:r>
              <a:rPr lang="en-US" sz="2205" dirty="0">
                <a:solidFill>
                  <a:prstClr val="black"/>
                </a:solidFill>
                <a:cs typeface="Times New Roman" panose="02020603050405020304" pitchFamily="18" charset="0"/>
              </a:rPr>
              <a:t>on</a:t>
            </a:r>
          </a:p>
          <a:p>
            <a:pPr algn="ctr" defTabSz="1007943" eaLnBrk="1" fontAlgn="auto" hangingPunct="1">
              <a:spcBef>
                <a:spcPts val="0"/>
              </a:spcBef>
              <a:spcAft>
                <a:spcPts val="0"/>
              </a:spcAft>
            </a:pPr>
            <a:endParaRPr lang="en-US" sz="1984" b="1" dirty="0">
              <a:solidFill>
                <a:prstClr val="black"/>
              </a:solidFill>
              <a:cs typeface="Times New Roman" panose="02020603050405020304" pitchFamily="18" charset="0"/>
            </a:endParaRPr>
          </a:p>
          <a:p>
            <a:pPr algn="ctr" defTabSz="1007943" eaLnBrk="1" fontAlgn="auto" hangingPunct="1">
              <a:spcBef>
                <a:spcPts val="0"/>
              </a:spcBef>
              <a:spcAft>
                <a:spcPts val="0"/>
              </a:spcAft>
            </a:pPr>
            <a:r>
              <a:rPr lang="en-US" sz="1984" b="1" dirty="0" smtClean="0">
                <a:solidFill>
                  <a:prstClr val="black"/>
                </a:solidFill>
                <a:cs typeface="Times New Roman" panose="02020603050405020304" pitchFamily="18" charset="0"/>
              </a:rPr>
              <a:t>Cloud Computing</a:t>
            </a:r>
            <a:endParaRPr lang="en-US" sz="1984" b="1" dirty="0">
              <a:solidFill>
                <a:prstClr val="black"/>
              </a:solidFill>
              <a:cs typeface="Times New Roman" panose="02020603050405020304" pitchFamily="18" charset="0"/>
            </a:endParaRPr>
          </a:p>
        </p:txBody>
      </p:sp>
      <p:sp>
        <p:nvSpPr>
          <p:cNvPr id="5" name="TextBox 4"/>
          <p:cNvSpPr txBox="1"/>
          <p:nvPr/>
        </p:nvSpPr>
        <p:spPr>
          <a:xfrm>
            <a:off x="504507" y="5627758"/>
            <a:ext cx="2973472" cy="1888337"/>
          </a:xfrm>
          <a:prstGeom prst="rect">
            <a:avLst/>
          </a:prstGeom>
          <a:noFill/>
        </p:spPr>
        <p:txBody>
          <a:bodyPr wrap="square" rtlCol="0">
            <a:spAutoFit/>
          </a:bodyPr>
          <a:lstStyle/>
          <a:p>
            <a:pPr defTabSz="1007943" eaLnBrk="1" fontAlgn="auto" hangingPunct="1">
              <a:spcBef>
                <a:spcPts val="0"/>
              </a:spcBef>
              <a:spcAft>
                <a:spcPts val="661"/>
              </a:spcAft>
            </a:pPr>
            <a:r>
              <a:rPr lang="en-US" sz="1984" dirty="0">
                <a:solidFill>
                  <a:prstClr val="black"/>
                </a:solidFill>
                <a:ea typeface="Times New Roman" panose="02020603050405020304" pitchFamily="18" charset="0"/>
              </a:rPr>
              <a:t>Submitted to:</a:t>
            </a:r>
            <a:endParaRPr lang="en-IN" sz="1984" dirty="0">
              <a:solidFill>
                <a:prstClr val="black"/>
              </a:solidFill>
              <a:ea typeface="Times New Roman" panose="02020603050405020304" pitchFamily="18" charset="0"/>
            </a:endParaRPr>
          </a:p>
          <a:p>
            <a:pPr defTabSz="1007943" eaLnBrk="1" fontAlgn="auto" hangingPunct="1">
              <a:spcBef>
                <a:spcPts val="0"/>
              </a:spcBef>
              <a:spcAft>
                <a:spcPts val="661"/>
              </a:spcAft>
            </a:pPr>
            <a:r>
              <a:rPr lang="en-US" sz="1984" dirty="0">
                <a:solidFill>
                  <a:prstClr val="black"/>
                </a:solidFill>
                <a:ea typeface="Times New Roman" panose="02020603050405020304" pitchFamily="18" charset="0"/>
              </a:rPr>
              <a:t>Mr. </a:t>
            </a:r>
            <a:r>
              <a:rPr lang="en-US" sz="1984" dirty="0" err="1">
                <a:solidFill>
                  <a:prstClr val="black"/>
                </a:solidFill>
                <a:ea typeface="Times New Roman" panose="02020603050405020304" pitchFamily="18" charset="0"/>
              </a:rPr>
              <a:t>Hemant</a:t>
            </a:r>
            <a:r>
              <a:rPr lang="en-US" sz="1984" dirty="0">
                <a:solidFill>
                  <a:prstClr val="black"/>
                </a:solidFill>
                <a:ea typeface="Times New Roman" panose="02020603050405020304" pitchFamily="18" charset="0"/>
              </a:rPr>
              <a:t> </a:t>
            </a:r>
            <a:r>
              <a:rPr lang="en-US" sz="1984" dirty="0" err="1" smtClean="0">
                <a:solidFill>
                  <a:prstClr val="black"/>
                </a:solidFill>
                <a:ea typeface="Times New Roman" panose="02020603050405020304" pitchFamily="18" charset="0"/>
              </a:rPr>
              <a:t>Mittal</a:t>
            </a:r>
            <a:r>
              <a:rPr lang="en-US" sz="1984" dirty="0" smtClean="0">
                <a:solidFill>
                  <a:prstClr val="black"/>
                </a:solidFill>
                <a:ea typeface="Times New Roman" panose="02020603050405020304" pitchFamily="18" charset="0"/>
              </a:rPr>
              <a:t>(Guide)</a:t>
            </a:r>
            <a:endParaRPr lang="en-IN" sz="1984" dirty="0">
              <a:solidFill>
                <a:prstClr val="black"/>
              </a:solidFill>
              <a:ea typeface="Times New Roman" panose="02020603050405020304" pitchFamily="18" charset="0"/>
            </a:endParaRPr>
          </a:p>
          <a:p>
            <a:pPr defTabSz="1007943" eaLnBrk="1" fontAlgn="auto" hangingPunct="1">
              <a:spcBef>
                <a:spcPts val="0"/>
              </a:spcBef>
              <a:spcAft>
                <a:spcPts val="661"/>
              </a:spcAft>
            </a:pPr>
            <a:r>
              <a:rPr lang="en-US" sz="1984" dirty="0" smtClean="0">
                <a:solidFill>
                  <a:prstClr val="black"/>
                </a:solidFill>
                <a:ea typeface="Times New Roman" panose="02020603050405020304" pitchFamily="18" charset="0"/>
              </a:rPr>
              <a:t>Assistant Professor </a:t>
            </a:r>
            <a:endParaRPr lang="en-US" sz="1984" dirty="0">
              <a:solidFill>
                <a:prstClr val="black"/>
              </a:solidFill>
              <a:ea typeface="Times New Roman" panose="02020603050405020304" pitchFamily="18" charset="0"/>
            </a:endParaRPr>
          </a:p>
          <a:p>
            <a:pPr defTabSz="1007943" eaLnBrk="1" fontAlgn="auto" hangingPunct="1">
              <a:spcBef>
                <a:spcPts val="0"/>
              </a:spcBef>
              <a:spcAft>
                <a:spcPts val="661"/>
              </a:spcAft>
            </a:pPr>
            <a:r>
              <a:rPr lang="en-US" sz="1984" dirty="0">
                <a:solidFill>
                  <a:prstClr val="black"/>
                </a:solidFill>
                <a:ea typeface="Times New Roman" panose="02020603050405020304" pitchFamily="18" charset="0"/>
              </a:rPr>
              <a:t>Computer Science &amp; Engineering</a:t>
            </a:r>
            <a:endParaRPr lang="en-IN" sz="1984" dirty="0">
              <a:solidFill>
                <a:prstClr val="black"/>
              </a:solidFill>
              <a:ea typeface="Times New Roman" panose="02020603050405020304" pitchFamily="18" charset="0"/>
            </a:endParaRPr>
          </a:p>
        </p:txBody>
      </p:sp>
      <p:sp>
        <p:nvSpPr>
          <p:cNvPr id="7" name="TextBox 6"/>
          <p:cNvSpPr txBox="1"/>
          <p:nvPr/>
        </p:nvSpPr>
        <p:spPr>
          <a:xfrm>
            <a:off x="6804236" y="5963744"/>
            <a:ext cx="2771881" cy="1924373"/>
          </a:xfrm>
          <a:prstGeom prst="rect">
            <a:avLst/>
          </a:prstGeom>
          <a:noFill/>
        </p:spPr>
        <p:txBody>
          <a:bodyPr wrap="square" rtlCol="0">
            <a:spAutoFit/>
          </a:bodyPr>
          <a:lstStyle/>
          <a:p>
            <a:pPr defTabSz="1007943" eaLnBrk="1" fontAlgn="auto" hangingPunct="1">
              <a:spcBef>
                <a:spcPts val="0"/>
              </a:spcBef>
              <a:spcAft>
                <a:spcPts val="0"/>
              </a:spcAft>
            </a:pPr>
            <a:r>
              <a:rPr lang="en-US" sz="1984" dirty="0">
                <a:solidFill>
                  <a:prstClr val="black"/>
                </a:solidFill>
                <a:cs typeface="Times New Roman" panose="02020603050405020304" pitchFamily="18" charset="0"/>
              </a:rPr>
              <a:t>Presented </a:t>
            </a:r>
            <a:r>
              <a:rPr lang="en-US" sz="1984" dirty="0" smtClean="0">
                <a:solidFill>
                  <a:prstClr val="black"/>
                </a:solidFill>
                <a:cs typeface="Times New Roman" panose="02020603050405020304" pitchFamily="18" charset="0"/>
              </a:rPr>
              <a:t>By</a:t>
            </a:r>
            <a:endParaRPr lang="en-US" sz="1984" dirty="0">
              <a:solidFill>
                <a:prstClr val="black"/>
              </a:solidFill>
              <a:cs typeface="Times New Roman" panose="02020603050405020304" pitchFamily="18" charset="0"/>
            </a:endParaRPr>
          </a:p>
          <a:p>
            <a:pPr defTabSz="1007943" eaLnBrk="1" fontAlgn="auto" hangingPunct="1">
              <a:spcBef>
                <a:spcPts val="0"/>
              </a:spcBef>
              <a:spcAft>
                <a:spcPts val="0"/>
              </a:spcAft>
            </a:pPr>
            <a:r>
              <a:rPr lang="en-US" sz="1984" dirty="0">
                <a:solidFill>
                  <a:prstClr val="black"/>
                </a:solidFill>
                <a:cs typeface="Times New Roman" panose="02020603050405020304" pitchFamily="18" charset="0"/>
              </a:rPr>
              <a:t>Student </a:t>
            </a:r>
            <a:r>
              <a:rPr lang="en-US" sz="1984" dirty="0" err="1" smtClean="0">
                <a:solidFill>
                  <a:prstClr val="black"/>
                </a:solidFill>
                <a:cs typeface="Times New Roman" panose="02020603050405020304" pitchFamily="18" charset="0"/>
              </a:rPr>
              <a:t>Name:Yash</a:t>
            </a:r>
            <a:r>
              <a:rPr lang="en-US" sz="1984" dirty="0" smtClean="0">
                <a:solidFill>
                  <a:prstClr val="black"/>
                </a:solidFill>
                <a:cs typeface="Times New Roman" panose="02020603050405020304" pitchFamily="18" charset="0"/>
              </a:rPr>
              <a:t> Joshi</a:t>
            </a:r>
            <a:endParaRPr lang="en-US" sz="1984" dirty="0">
              <a:solidFill>
                <a:prstClr val="black"/>
              </a:solidFill>
              <a:cs typeface="Times New Roman" panose="02020603050405020304" pitchFamily="18" charset="0"/>
            </a:endParaRPr>
          </a:p>
          <a:p>
            <a:pPr defTabSz="1007943" eaLnBrk="1" fontAlgn="auto" hangingPunct="1">
              <a:spcBef>
                <a:spcPts val="0"/>
              </a:spcBef>
              <a:spcAft>
                <a:spcPts val="0"/>
              </a:spcAft>
            </a:pPr>
            <a:r>
              <a:rPr lang="en-US" sz="1984" dirty="0" smtClean="0">
                <a:solidFill>
                  <a:prstClr val="black"/>
                </a:solidFill>
                <a:cs typeface="Times New Roman" panose="02020603050405020304" pitchFamily="18" charset="0"/>
              </a:rPr>
              <a:t>Roll. </a:t>
            </a:r>
            <a:r>
              <a:rPr lang="en-US" sz="1984" dirty="0">
                <a:solidFill>
                  <a:prstClr val="black"/>
                </a:solidFill>
                <a:cs typeface="Times New Roman" panose="02020603050405020304" pitchFamily="18" charset="0"/>
              </a:rPr>
              <a:t>No</a:t>
            </a:r>
            <a:r>
              <a:rPr lang="en-US" sz="1984" dirty="0" smtClean="0">
                <a:solidFill>
                  <a:prstClr val="black"/>
                </a:solidFill>
                <a:cs typeface="Times New Roman" panose="02020603050405020304" pitchFamily="18" charset="0"/>
              </a:rPr>
              <a:t>.: 22EJCCS851</a:t>
            </a:r>
            <a:endParaRPr lang="en-US" sz="1984" dirty="0">
              <a:solidFill>
                <a:prstClr val="black"/>
              </a:solidFill>
              <a:cs typeface="Times New Roman" panose="02020603050405020304" pitchFamily="18" charset="0"/>
            </a:endParaRPr>
          </a:p>
          <a:p>
            <a:pPr defTabSz="1007943" eaLnBrk="1" fontAlgn="auto" hangingPunct="1">
              <a:spcBef>
                <a:spcPts val="0"/>
              </a:spcBef>
              <a:spcAft>
                <a:spcPts val="0"/>
              </a:spcAft>
            </a:pPr>
            <a:r>
              <a:rPr lang="en-US" sz="1984" dirty="0">
                <a:solidFill>
                  <a:prstClr val="black"/>
                </a:solidFill>
                <a:cs typeface="Times New Roman" panose="02020603050405020304" pitchFamily="18" charset="0"/>
              </a:rPr>
              <a:t>Semester and </a:t>
            </a:r>
            <a:r>
              <a:rPr lang="en-US" sz="1984" dirty="0" smtClean="0">
                <a:solidFill>
                  <a:prstClr val="black"/>
                </a:solidFill>
                <a:cs typeface="Times New Roman" panose="02020603050405020304" pitchFamily="18" charset="0"/>
              </a:rPr>
              <a:t>Year: 7</a:t>
            </a:r>
            <a:r>
              <a:rPr lang="en-US" sz="1984" baseline="30000" dirty="0" smtClean="0">
                <a:solidFill>
                  <a:prstClr val="black"/>
                </a:solidFill>
                <a:cs typeface="Times New Roman" panose="02020603050405020304" pitchFamily="18" charset="0"/>
              </a:rPr>
              <a:t>th</a:t>
            </a:r>
            <a:r>
              <a:rPr lang="en-US" sz="1984" dirty="0" smtClean="0">
                <a:solidFill>
                  <a:prstClr val="black"/>
                </a:solidFill>
                <a:cs typeface="Times New Roman" panose="02020603050405020304" pitchFamily="18" charset="0"/>
              </a:rPr>
              <a:t> </a:t>
            </a:r>
            <a:r>
              <a:rPr lang="en-US" sz="1984" dirty="0" err="1" smtClean="0">
                <a:solidFill>
                  <a:prstClr val="black"/>
                </a:solidFill>
                <a:cs typeface="Times New Roman" panose="02020603050405020304" pitchFamily="18" charset="0"/>
              </a:rPr>
              <a:t>Sem</a:t>
            </a:r>
            <a:r>
              <a:rPr lang="en-US" sz="1984" dirty="0" smtClean="0">
                <a:solidFill>
                  <a:prstClr val="black"/>
                </a:solidFill>
                <a:cs typeface="Times New Roman" panose="02020603050405020304" pitchFamily="18" charset="0"/>
              </a:rPr>
              <a:t> 4</a:t>
            </a:r>
            <a:r>
              <a:rPr lang="en-US" sz="1984" baseline="30000" dirty="0" smtClean="0">
                <a:solidFill>
                  <a:prstClr val="black"/>
                </a:solidFill>
                <a:cs typeface="Times New Roman" panose="02020603050405020304" pitchFamily="18" charset="0"/>
              </a:rPr>
              <a:t>th</a:t>
            </a:r>
            <a:r>
              <a:rPr lang="en-US" sz="1984" dirty="0" smtClean="0">
                <a:solidFill>
                  <a:prstClr val="black"/>
                </a:solidFill>
                <a:cs typeface="Times New Roman" panose="02020603050405020304" pitchFamily="18" charset="0"/>
              </a:rPr>
              <a:t> Year</a:t>
            </a:r>
            <a:endParaRPr lang="en-US" sz="1984" dirty="0">
              <a:solidFill>
                <a:prstClr val="black"/>
              </a:solidFill>
              <a:cs typeface="Times New Roman" panose="02020603050405020304" pitchFamily="18" charset="0"/>
            </a:endParaRPr>
          </a:p>
          <a:p>
            <a:pPr defTabSz="1007943" eaLnBrk="1" fontAlgn="auto" hangingPunct="1">
              <a:spcBef>
                <a:spcPts val="0"/>
              </a:spcBef>
              <a:spcAft>
                <a:spcPts val="0"/>
              </a:spcAft>
            </a:pPr>
            <a:endParaRPr lang="en-US" sz="1984" dirty="0">
              <a:solidFill>
                <a:prstClr val="black"/>
              </a:solidFill>
              <a:cs typeface="Times New Roman" panose="02020603050405020304" pitchFamily="18" charset="0"/>
            </a:endParaRPr>
          </a:p>
        </p:txBody>
      </p:sp>
      <p:sp>
        <p:nvSpPr>
          <p:cNvPr id="8" name="Rectangle 7"/>
          <p:cNvSpPr/>
          <p:nvPr/>
        </p:nvSpPr>
        <p:spPr>
          <a:xfrm>
            <a:off x="4096538" y="5627758"/>
            <a:ext cx="1939955" cy="397673"/>
          </a:xfrm>
          <a:prstGeom prst="rect">
            <a:avLst/>
          </a:prstGeom>
        </p:spPr>
        <p:txBody>
          <a:bodyPr wrap="none">
            <a:spAutoFit/>
          </a:bodyPr>
          <a:lstStyle/>
          <a:p>
            <a:pPr algn="ctr" defTabSz="1007943" eaLnBrk="1" fontAlgn="auto" hangingPunct="1">
              <a:spcBef>
                <a:spcPts val="0"/>
              </a:spcBef>
              <a:spcAft>
                <a:spcPts val="0"/>
              </a:spcAft>
            </a:pPr>
            <a:r>
              <a:rPr lang="en-US" sz="1984" dirty="0">
                <a:solidFill>
                  <a:prstClr val="black"/>
                </a:solidFill>
                <a:cs typeface="Times New Roman" panose="02020603050405020304" pitchFamily="18" charset="0"/>
              </a:rPr>
              <a:t>Session: 2025-26</a:t>
            </a:r>
          </a:p>
        </p:txBody>
      </p:sp>
      <p:pic>
        <p:nvPicPr>
          <p:cNvPr id="6" name="Picture 5">
            <a:extLst>
              <a:ext uri="{FF2B5EF4-FFF2-40B4-BE49-F238E27FC236}">
                <a16:creationId xmlns:a16="http://schemas.microsoft.com/office/drawing/2014/main" xmlns="" id="{90B53DAA-3741-8CC2-0372-0B65ACD6FFCF}"/>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3974561" y="3924387"/>
            <a:ext cx="2183906" cy="149956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Text Box 3"/>
          <p:cNvSpPr txBox="1">
            <a:spLocks noChangeArrowheads="1"/>
          </p:cNvSpPr>
          <p:nvPr/>
        </p:nvSpPr>
        <p:spPr bwMode="auto">
          <a:xfrm>
            <a:off x="620712" y="1570038"/>
            <a:ext cx="8001000" cy="6555641"/>
          </a:xfrm>
          <a:prstGeom prst="rect">
            <a:avLst/>
          </a:prstGeom>
          <a:noFill/>
          <a:ln w="9525">
            <a:noFill/>
            <a:miter lim="800000"/>
            <a:headEnd/>
            <a:tailEnd/>
          </a:ln>
        </p:spPr>
        <p:txBody>
          <a:bodyPr wrap="square" lIns="0" tIns="0" rIns="0" bIns="0">
            <a:spAutoFit/>
          </a:bodyPr>
          <a:lstStyle/>
          <a:p>
            <a:pPr marL="457200" indent="-457200">
              <a:buFont typeface="+mj-lt"/>
              <a:buAutoNum type="arabicPeriod"/>
            </a:pPr>
            <a:r>
              <a:rPr lang="en-US" dirty="0" smtClean="0"/>
              <a:t>Objective</a:t>
            </a:r>
          </a:p>
          <a:p>
            <a:pPr marL="457200" indent="-457200">
              <a:buFont typeface="+mj-lt"/>
              <a:buAutoNum type="arabicPeriod"/>
            </a:pPr>
            <a:r>
              <a:rPr lang="en-US" dirty="0" smtClean="0"/>
              <a:t>Introduction to Cloud Computing</a:t>
            </a:r>
          </a:p>
          <a:p>
            <a:pPr marL="457200" indent="-457200">
              <a:buFont typeface="+mj-lt"/>
              <a:buAutoNum type="arabicPeriod"/>
            </a:pPr>
            <a:r>
              <a:rPr lang="en-US" dirty="0" smtClean="0"/>
              <a:t>Characteristics of Cloud Computing</a:t>
            </a:r>
          </a:p>
          <a:p>
            <a:pPr marL="457200" indent="-457200">
              <a:buFont typeface="+mj-lt"/>
              <a:buAutoNum type="arabicPeriod"/>
            </a:pPr>
            <a:r>
              <a:rPr lang="en-US" dirty="0" smtClean="0"/>
              <a:t>Cloud Service Models (</a:t>
            </a:r>
            <a:r>
              <a:rPr lang="en-US" dirty="0" err="1" smtClean="0"/>
              <a:t>IaaS</a:t>
            </a:r>
            <a:r>
              <a:rPr lang="en-US" dirty="0" smtClean="0"/>
              <a:t>, </a:t>
            </a:r>
            <a:r>
              <a:rPr lang="en-US" dirty="0" err="1" smtClean="0"/>
              <a:t>PaaS</a:t>
            </a:r>
            <a:r>
              <a:rPr lang="en-US" dirty="0" smtClean="0"/>
              <a:t>, </a:t>
            </a:r>
            <a:r>
              <a:rPr lang="en-US" dirty="0" err="1" smtClean="0"/>
              <a:t>SaaS</a:t>
            </a:r>
            <a:r>
              <a:rPr lang="en-US" dirty="0" smtClean="0"/>
              <a:t>)</a:t>
            </a:r>
          </a:p>
          <a:p>
            <a:pPr marL="457200" indent="-457200">
              <a:buFont typeface="+mj-lt"/>
              <a:buAutoNum type="arabicPeriod"/>
            </a:pPr>
            <a:r>
              <a:rPr lang="en-US" dirty="0" smtClean="0"/>
              <a:t>Deployment Models (Public, Private, Hybrid, Community)</a:t>
            </a:r>
          </a:p>
          <a:p>
            <a:pPr marL="457200" indent="-457200">
              <a:buFont typeface="+mj-lt"/>
              <a:buAutoNum type="arabicPeriod"/>
            </a:pPr>
            <a:r>
              <a:rPr lang="en-US" dirty="0" smtClean="0"/>
              <a:t>Cloud Architecture</a:t>
            </a:r>
          </a:p>
          <a:p>
            <a:pPr marL="457200" indent="-457200">
              <a:buFont typeface="+mj-lt"/>
              <a:buAutoNum type="arabicPeriod"/>
            </a:pPr>
            <a:r>
              <a:rPr lang="en-US" dirty="0" smtClean="0"/>
              <a:t>Major Cloud Providers (AWS, Azure, GCP)</a:t>
            </a:r>
          </a:p>
          <a:p>
            <a:pPr marL="457200" indent="-457200">
              <a:buFont typeface="+mj-lt"/>
              <a:buAutoNum type="arabicPeriod"/>
            </a:pPr>
            <a:r>
              <a:rPr lang="en-US" dirty="0" smtClean="0"/>
              <a:t>Cloud Storage &amp; Data Management</a:t>
            </a:r>
          </a:p>
          <a:p>
            <a:pPr marL="457200" indent="-457200">
              <a:buFont typeface="+mj-lt"/>
              <a:buAutoNum type="arabicPeriod"/>
            </a:pPr>
            <a:r>
              <a:rPr lang="en-US" dirty="0" smtClean="0"/>
              <a:t>Security in Cloud Computing</a:t>
            </a:r>
          </a:p>
          <a:p>
            <a:pPr marL="457200" indent="-457200">
              <a:buFont typeface="+mj-lt"/>
              <a:buAutoNum type="arabicPeriod"/>
            </a:pPr>
            <a:r>
              <a:rPr lang="en-US" dirty="0" smtClean="0"/>
              <a:t>Cloud Applications &amp; Use Cases</a:t>
            </a:r>
          </a:p>
          <a:p>
            <a:pPr marL="457200" indent="-457200">
              <a:buFont typeface="+mj-lt"/>
              <a:buAutoNum type="arabicPeriod"/>
            </a:pPr>
            <a:r>
              <a:rPr lang="en-US" dirty="0" smtClean="0"/>
              <a:t>Advantages of Cloud Computing</a:t>
            </a:r>
          </a:p>
          <a:p>
            <a:pPr marL="457200" indent="-457200">
              <a:buFont typeface="+mj-lt"/>
              <a:buAutoNum type="arabicPeriod"/>
            </a:pPr>
            <a:r>
              <a:rPr lang="en-US" dirty="0" smtClean="0"/>
              <a:t>Challenges in Cloud Computing</a:t>
            </a:r>
          </a:p>
          <a:p>
            <a:pPr marL="457200" indent="-457200">
              <a:buFont typeface="+mj-lt"/>
              <a:buAutoNum type="arabicPeriod"/>
            </a:pPr>
            <a:r>
              <a:rPr lang="en-US" dirty="0" smtClean="0"/>
              <a:t>Methodology</a:t>
            </a:r>
          </a:p>
          <a:p>
            <a:pPr marL="457200" indent="-457200">
              <a:buFont typeface="+mj-lt"/>
              <a:buAutoNum type="arabicPeriod"/>
            </a:pPr>
            <a:r>
              <a:rPr lang="en-US" dirty="0" smtClean="0"/>
              <a:t>Material Required</a:t>
            </a:r>
          </a:p>
          <a:p>
            <a:pPr marL="457200" indent="-457200">
              <a:buFont typeface="+mj-lt"/>
              <a:buAutoNum type="arabicPeriod"/>
            </a:pPr>
            <a:r>
              <a:rPr lang="en-US" dirty="0" smtClean="0"/>
              <a:t>References</a:t>
            </a:r>
          </a:p>
          <a:p>
            <a:pPr marL="457200" indent="-457200">
              <a:buFont typeface="+mj-lt"/>
              <a:buAutoNum type="arabicPeriod"/>
            </a:pPr>
            <a:endParaRPr lang="en-US" dirty="0" smtClean="0">
              <a:cs typeface="Times New Roman" pitchFamily="18" charset="0"/>
            </a:endParaRPr>
          </a:p>
          <a:p>
            <a:pPr marL="514350" indent="-514350">
              <a:lnSpc>
                <a:spcPct val="150000"/>
              </a:lnSpc>
              <a:buFont typeface="+mj-lt"/>
              <a:buAutoNum type="arabicPeriod"/>
            </a:pPr>
            <a:endParaRPr lang="en-GB" sz="2800" dirty="0">
              <a:cs typeface="Times New Roman" pitchFamily="18" charset="0"/>
            </a:endParaRPr>
          </a:p>
        </p:txBody>
      </p:sp>
      <p:sp>
        <p:nvSpPr>
          <p:cNvPr id="4" name="Rectangle 2"/>
          <p:cNvSpPr txBox="1">
            <a:spLocks noChangeArrowheads="1"/>
          </p:cNvSpPr>
          <p:nvPr/>
        </p:nvSpPr>
        <p:spPr>
          <a:xfrm>
            <a:off x="87313" y="420688"/>
            <a:ext cx="9231312" cy="839787"/>
          </a:xfrm>
          <a:prstGeom prst="rect">
            <a:avLst/>
          </a:prstGeom>
        </p:spPr>
        <p:txBody>
          <a:bodyPr lIns="100794" tIns="50397" rIns="100794" bIns="50397"/>
          <a:lstStyle/>
          <a:p>
            <a:pPr algn="ctr" defTabSz="457200">
              <a:buClr>
                <a:srgbClr val="000000"/>
              </a:buClr>
              <a:buSzPct val="45000"/>
              <a:buFont typeface="StarBats" charset="0"/>
              <a:buNone/>
              <a:defRPr/>
            </a:pPr>
            <a:r>
              <a:rPr lang="en-US" sz="4400" b="1" kern="0" dirty="0">
                <a:solidFill>
                  <a:schemeClr val="bg1"/>
                </a:solidFill>
                <a:latin typeface="+mj-lt"/>
                <a:ea typeface="+mj-ea"/>
                <a:cs typeface="+mj-cs"/>
              </a:rPr>
              <a:t>Contents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3112" y="1570037"/>
            <a:ext cx="8305800" cy="3416320"/>
          </a:xfrm>
          <a:prstGeom prst="rect">
            <a:avLst/>
          </a:prstGeom>
        </p:spPr>
        <p:txBody>
          <a:bodyPr wrap="square">
            <a:spAutoFit/>
          </a:bodyPr>
          <a:lstStyle/>
          <a:p>
            <a:pPr>
              <a:buFont typeface="Wingdings" pitchFamily="2" charset="2"/>
              <a:buChar char="q"/>
            </a:pPr>
            <a:r>
              <a:rPr lang="en-US" dirty="0" smtClean="0"/>
              <a:t>On-demand resource access</a:t>
            </a:r>
          </a:p>
          <a:p>
            <a:pPr>
              <a:buFont typeface="Wingdings" pitchFamily="2" charset="2"/>
              <a:buChar char="q"/>
            </a:pPr>
            <a:r>
              <a:rPr lang="en-US" dirty="0" smtClean="0"/>
              <a:t>Reduced infrastructure cost</a:t>
            </a:r>
          </a:p>
          <a:p>
            <a:pPr>
              <a:buFont typeface="Wingdings" pitchFamily="2" charset="2"/>
              <a:buChar char="q"/>
            </a:pPr>
            <a:r>
              <a:rPr lang="en-US" dirty="0" smtClean="0"/>
              <a:t>High scalability &amp; flexibility</a:t>
            </a:r>
          </a:p>
          <a:p>
            <a:pPr>
              <a:buFont typeface="Wingdings" pitchFamily="2" charset="2"/>
              <a:buChar char="q"/>
            </a:pPr>
            <a:r>
              <a:rPr lang="en-US" dirty="0" smtClean="0"/>
              <a:t>Reliable and available services</a:t>
            </a:r>
          </a:p>
          <a:p>
            <a:pPr>
              <a:buFont typeface="Wingdings" pitchFamily="2" charset="2"/>
              <a:buChar char="q"/>
            </a:pPr>
            <a:r>
              <a:rPr lang="en-US" dirty="0" smtClean="0"/>
              <a:t>Global remote access</a:t>
            </a:r>
          </a:p>
          <a:p>
            <a:pPr>
              <a:buFont typeface="Wingdings" pitchFamily="2" charset="2"/>
              <a:buChar char="q"/>
            </a:pPr>
            <a:r>
              <a:rPr lang="en-US" dirty="0" smtClean="0"/>
              <a:t>Better data management</a:t>
            </a:r>
          </a:p>
          <a:p>
            <a:pPr>
              <a:buFont typeface="Wingdings" pitchFamily="2" charset="2"/>
              <a:buChar char="q"/>
            </a:pPr>
            <a:r>
              <a:rPr lang="en-US" dirty="0" smtClean="0"/>
              <a:t>Enhanced collaboration</a:t>
            </a:r>
          </a:p>
          <a:p>
            <a:pPr>
              <a:buFont typeface="Wingdings" pitchFamily="2" charset="2"/>
              <a:buChar char="q"/>
            </a:pPr>
            <a:r>
              <a:rPr lang="en-US" dirty="0" smtClean="0"/>
              <a:t>Faster innovation</a:t>
            </a:r>
          </a:p>
          <a:p>
            <a:pPr algn="just"/>
            <a:endParaRPr lang="en-IN" dirty="0">
              <a:latin typeface="Söhne"/>
            </a:endParaRPr>
          </a:p>
        </p:txBody>
      </p:sp>
      <p:sp>
        <p:nvSpPr>
          <p:cNvPr id="3" name="TextBox 2"/>
          <p:cNvSpPr txBox="1"/>
          <p:nvPr/>
        </p:nvSpPr>
        <p:spPr>
          <a:xfrm>
            <a:off x="696912" y="427037"/>
            <a:ext cx="2971800" cy="646331"/>
          </a:xfrm>
          <a:prstGeom prst="rect">
            <a:avLst/>
          </a:prstGeom>
          <a:noFill/>
        </p:spPr>
        <p:txBody>
          <a:bodyPr wrap="square" rtlCol="0">
            <a:spAutoFit/>
          </a:bodyPr>
          <a:lstStyle/>
          <a:p>
            <a:r>
              <a:rPr lang="en-US" sz="3600" dirty="0" smtClean="0">
                <a:solidFill>
                  <a:schemeClr val="bg1"/>
                </a:solidFill>
              </a:rPr>
              <a:t>Objective</a:t>
            </a:r>
            <a:endParaRPr lang="en-US" sz="3600" dirty="0">
              <a:solidFill>
                <a:schemeClr val="bg1"/>
              </a:solidFill>
            </a:endParaRPr>
          </a:p>
        </p:txBody>
      </p:sp>
    </p:spTree>
    <p:extLst>
      <p:ext uri="{BB962C8B-B14F-4D97-AF65-F5344CB8AC3E}">
        <p14:creationId xmlns:p14="http://schemas.microsoft.com/office/powerpoint/2010/main" xmlns="" val="2000239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8967" y="1722437"/>
            <a:ext cx="6096000" cy="3046988"/>
          </a:xfrm>
          <a:prstGeom prst="rect">
            <a:avLst/>
          </a:prstGeom>
        </p:spPr>
        <p:txBody>
          <a:bodyPr wrap="square">
            <a:spAutoFit/>
          </a:bodyPr>
          <a:lstStyle/>
          <a:p>
            <a:pPr marL="285750" indent="-285750">
              <a:buFont typeface="Wingdings" panose="05000000000000000000" pitchFamily="2" charset="2"/>
              <a:buChar char="Ø"/>
            </a:pPr>
            <a:r>
              <a:rPr lang="en-US" dirty="0" smtClean="0"/>
              <a:t>Cloud computing is a modern computing technology that delivers computing services such as servers, storage, databases, software, and networking over the internet on a pay-as-you-use basis. Instead of relying on a personal computer or physical infrastructure, users can access resources remotely from anywhere, anytime.</a:t>
            </a:r>
            <a:endParaRPr lang="en-US" dirty="0"/>
          </a:p>
        </p:txBody>
      </p:sp>
      <p:sp>
        <p:nvSpPr>
          <p:cNvPr id="4" name="TextBox 3"/>
          <p:cNvSpPr txBox="1"/>
          <p:nvPr/>
        </p:nvSpPr>
        <p:spPr>
          <a:xfrm>
            <a:off x="392112" y="408671"/>
            <a:ext cx="6491970" cy="646331"/>
          </a:xfrm>
          <a:prstGeom prst="rect">
            <a:avLst/>
          </a:prstGeom>
          <a:noFill/>
        </p:spPr>
        <p:txBody>
          <a:bodyPr wrap="none" rtlCol="0">
            <a:spAutoFit/>
          </a:bodyPr>
          <a:lstStyle/>
          <a:p>
            <a:r>
              <a:rPr lang="en-US" sz="3600" dirty="0" smtClean="0">
                <a:solidFill>
                  <a:schemeClr val="bg1"/>
                </a:solidFill>
              </a:rPr>
              <a:t>Introduction To Cloud Computing</a:t>
            </a:r>
            <a:endParaRPr lang="en-US" sz="3600" dirty="0">
              <a:solidFill>
                <a:schemeClr val="bg1"/>
              </a:solidFill>
            </a:endParaRPr>
          </a:p>
        </p:txBody>
      </p:sp>
      <p:sp>
        <p:nvSpPr>
          <p:cNvPr id="6" name="TextBox 5">
            <a:extLst>
              <a:ext uri="{FF2B5EF4-FFF2-40B4-BE49-F238E27FC236}">
                <a16:creationId xmlns:a16="http://schemas.microsoft.com/office/drawing/2014/main" xmlns="" id="{DFDFC2DD-68E3-9802-7EFA-F041C8607157}"/>
              </a:ext>
            </a:extLst>
          </p:cNvPr>
          <p:cNvSpPr txBox="1"/>
          <p:nvPr/>
        </p:nvSpPr>
        <p:spPr>
          <a:xfrm>
            <a:off x="517239" y="4670395"/>
            <a:ext cx="9046145" cy="2677656"/>
          </a:xfrm>
          <a:prstGeom prst="rect">
            <a:avLst/>
          </a:prstGeom>
          <a:noFill/>
        </p:spPr>
        <p:txBody>
          <a:bodyPr wrap="square" rtlCol="0">
            <a:spAutoFit/>
          </a:bodyPr>
          <a:lstStyle/>
          <a:p>
            <a:r>
              <a:rPr lang="en-US" dirty="0" smtClean="0"/>
              <a:t>Cloud computing helps organizations reduce hardware cost, increase scalability, and ensure high performance and reliability. Popular cloud platforms like AWS, Azure, and Google Cloud power many everyday applications such as Gmail, Netflix, and Google Drive, making data storage and access faster, secure, and more efficient.</a:t>
            </a:r>
          </a:p>
          <a:p>
            <a:r>
              <a:rPr lang="en-US" dirty="0" smtClean="0"/>
              <a:t>.</a:t>
            </a:r>
            <a:endParaRPr lang="en-IN" dirty="0"/>
          </a:p>
          <a:p>
            <a:endParaRPr lang="en-IN" dirty="0"/>
          </a:p>
        </p:txBody>
      </p:sp>
      <p:pic>
        <p:nvPicPr>
          <p:cNvPr id="1026" name="Picture 2"/>
          <p:cNvPicPr>
            <a:picLocks noChangeAspect="1" noChangeArrowheads="1"/>
          </p:cNvPicPr>
          <p:nvPr/>
        </p:nvPicPr>
        <p:blipFill>
          <a:blip r:embed="rId2"/>
          <a:srcRect/>
          <a:stretch>
            <a:fillRect/>
          </a:stretch>
        </p:blipFill>
        <p:spPr bwMode="auto">
          <a:xfrm>
            <a:off x="6335712" y="1493837"/>
            <a:ext cx="3402574" cy="3131105"/>
          </a:xfrm>
          <a:prstGeom prst="rect">
            <a:avLst/>
          </a:prstGeom>
          <a:noFill/>
          <a:ln w="9525">
            <a:noFill/>
            <a:miter lim="800000"/>
            <a:headEnd/>
            <a:tailEnd/>
          </a:ln>
          <a:effectLst/>
        </p:spPr>
      </p:pic>
    </p:spTree>
    <p:extLst>
      <p:ext uri="{BB962C8B-B14F-4D97-AF65-F5344CB8AC3E}">
        <p14:creationId xmlns:p14="http://schemas.microsoft.com/office/powerpoint/2010/main" xmlns="" val="960190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A3DAA06-84D4-F038-8EA5-3A8FBD3B18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xmlns="" id="{41CF78A4-0A3C-E93F-0DE2-C522484604C3}"/>
              </a:ext>
            </a:extLst>
          </p:cNvPr>
          <p:cNvSpPr/>
          <p:nvPr/>
        </p:nvSpPr>
        <p:spPr>
          <a:xfrm>
            <a:off x="268967" y="1722437"/>
            <a:ext cx="6096000" cy="2677656"/>
          </a:xfrm>
          <a:prstGeom prst="rect">
            <a:avLst/>
          </a:prstGeom>
        </p:spPr>
        <p:txBody>
          <a:bodyPr wrap="square">
            <a:spAutoFit/>
          </a:bodyPr>
          <a:lstStyle/>
          <a:p>
            <a:pPr marL="285750" indent="-285750">
              <a:buFont typeface="Wingdings" pitchFamily="2" charset="2"/>
              <a:buChar char="q"/>
            </a:pPr>
            <a:r>
              <a:rPr lang="en-US" dirty="0" smtClean="0"/>
              <a:t>Cloud computing offers flexible and scalable access to computing resources over the internet. It allows users to use IT services on demand without needing physical infrastructure. These characteristics make cloud computing efficient, cost-effective, and widely adopted by modern organizations.</a:t>
            </a:r>
            <a:endParaRPr lang="en-US" dirty="0"/>
          </a:p>
        </p:txBody>
      </p:sp>
      <p:sp>
        <p:nvSpPr>
          <p:cNvPr id="4" name="TextBox 3">
            <a:extLst>
              <a:ext uri="{FF2B5EF4-FFF2-40B4-BE49-F238E27FC236}">
                <a16:creationId xmlns:a16="http://schemas.microsoft.com/office/drawing/2014/main" xmlns="" id="{F3E9CD05-E4C9-9FE0-D45B-2A869FD81D38}"/>
              </a:ext>
            </a:extLst>
          </p:cNvPr>
          <p:cNvSpPr txBox="1"/>
          <p:nvPr/>
        </p:nvSpPr>
        <p:spPr>
          <a:xfrm>
            <a:off x="392112" y="408671"/>
            <a:ext cx="7083991" cy="646331"/>
          </a:xfrm>
          <a:prstGeom prst="rect">
            <a:avLst/>
          </a:prstGeom>
          <a:noFill/>
        </p:spPr>
        <p:txBody>
          <a:bodyPr wrap="none" rtlCol="0">
            <a:spAutoFit/>
          </a:bodyPr>
          <a:lstStyle/>
          <a:p>
            <a:r>
              <a:rPr lang="en-US" sz="3600" dirty="0" smtClean="0">
                <a:solidFill>
                  <a:schemeClr val="bg1"/>
                </a:solidFill>
              </a:rPr>
              <a:t>Characteristics Of  Cloud Computing</a:t>
            </a:r>
            <a:endParaRPr lang="en-US" sz="3600" dirty="0">
              <a:solidFill>
                <a:schemeClr val="bg1"/>
              </a:solidFill>
            </a:endParaRPr>
          </a:p>
        </p:txBody>
      </p:sp>
      <p:sp>
        <p:nvSpPr>
          <p:cNvPr id="6" name="TextBox 5">
            <a:extLst>
              <a:ext uri="{FF2B5EF4-FFF2-40B4-BE49-F238E27FC236}">
                <a16:creationId xmlns:a16="http://schemas.microsoft.com/office/drawing/2014/main" xmlns="" id="{C750FDBB-5C2B-9664-66D0-89C3AB7CA875}"/>
              </a:ext>
            </a:extLst>
          </p:cNvPr>
          <p:cNvSpPr txBox="1"/>
          <p:nvPr/>
        </p:nvSpPr>
        <p:spPr>
          <a:xfrm>
            <a:off x="517239" y="4670395"/>
            <a:ext cx="9046145" cy="2677656"/>
          </a:xfrm>
          <a:prstGeom prst="rect">
            <a:avLst/>
          </a:prstGeom>
          <a:noFill/>
        </p:spPr>
        <p:txBody>
          <a:bodyPr wrap="square" rtlCol="0">
            <a:spAutoFit/>
          </a:bodyPr>
          <a:lstStyle/>
          <a:p>
            <a:pPr>
              <a:buFont typeface="Wingdings" pitchFamily="2" charset="2"/>
              <a:buChar char="q"/>
            </a:pPr>
            <a:r>
              <a:rPr lang="en-US" dirty="0" smtClean="0"/>
              <a:t>On-Demand Self-Service</a:t>
            </a:r>
          </a:p>
          <a:p>
            <a:pPr>
              <a:buFont typeface="Wingdings" pitchFamily="2" charset="2"/>
              <a:buChar char="q"/>
            </a:pPr>
            <a:r>
              <a:rPr lang="en-US" dirty="0" smtClean="0"/>
              <a:t>Broad Network Access</a:t>
            </a:r>
          </a:p>
          <a:p>
            <a:pPr>
              <a:buFont typeface="Wingdings" pitchFamily="2" charset="2"/>
              <a:buChar char="q"/>
            </a:pPr>
            <a:r>
              <a:rPr lang="en-US" dirty="0" smtClean="0"/>
              <a:t>Resource Pooling</a:t>
            </a:r>
          </a:p>
          <a:p>
            <a:pPr>
              <a:buFont typeface="Wingdings" pitchFamily="2" charset="2"/>
              <a:buChar char="q"/>
            </a:pPr>
            <a:r>
              <a:rPr lang="en-US" dirty="0" smtClean="0"/>
              <a:t>Rapid Elasticity &amp; Scalability</a:t>
            </a:r>
          </a:p>
          <a:p>
            <a:pPr>
              <a:buFont typeface="Wingdings" pitchFamily="2" charset="2"/>
              <a:buChar char="q"/>
            </a:pPr>
            <a:r>
              <a:rPr lang="en-US" dirty="0" smtClean="0"/>
              <a:t>Pay-As-You-Go Pricing</a:t>
            </a:r>
          </a:p>
          <a:p>
            <a:pPr>
              <a:buFont typeface="Wingdings" pitchFamily="2" charset="2"/>
              <a:buChar char="q"/>
            </a:pPr>
            <a:r>
              <a:rPr lang="en-US" dirty="0" smtClean="0"/>
              <a:t>Measured Service &amp; Monitoring</a:t>
            </a:r>
          </a:p>
          <a:p>
            <a:pPr>
              <a:buFont typeface="Wingdings" pitchFamily="2" charset="2"/>
              <a:buChar char="q"/>
            </a:pPr>
            <a:endParaRPr lang="en-IN" dirty="0"/>
          </a:p>
        </p:txBody>
      </p:sp>
      <p:pic>
        <p:nvPicPr>
          <p:cNvPr id="2050" name="Picture 2"/>
          <p:cNvPicPr>
            <a:picLocks noChangeAspect="1" noChangeArrowheads="1"/>
          </p:cNvPicPr>
          <p:nvPr/>
        </p:nvPicPr>
        <p:blipFill>
          <a:blip r:embed="rId2"/>
          <a:srcRect/>
          <a:stretch>
            <a:fillRect/>
          </a:stretch>
        </p:blipFill>
        <p:spPr bwMode="auto">
          <a:xfrm>
            <a:off x="6158686" y="1646237"/>
            <a:ext cx="3921939" cy="5181600"/>
          </a:xfrm>
          <a:prstGeom prst="rect">
            <a:avLst/>
          </a:prstGeom>
          <a:ln>
            <a:noFill/>
          </a:ln>
          <a:effectLst>
            <a:softEdge rad="112500"/>
          </a:effectLst>
        </p:spPr>
      </p:pic>
    </p:spTree>
    <p:extLst>
      <p:ext uri="{BB962C8B-B14F-4D97-AF65-F5344CB8AC3E}">
        <p14:creationId xmlns:p14="http://schemas.microsoft.com/office/powerpoint/2010/main" xmlns="" val="2982663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471987" y="3475037"/>
            <a:ext cx="5608638" cy="3884462"/>
          </a:xfrm>
          <a:prstGeom prst="rect">
            <a:avLst/>
          </a:prstGeom>
          <a:ln>
            <a:noFill/>
          </a:ln>
          <a:effectLst>
            <a:softEdge rad="112500"/>
          </a:effectLst>
        </p:spPr>
      </p:pic>
      <p:sp>
        <p:nvSpPr>
          <p:cNvPr id="2" name="TextBox 1"/>
          <p:cNvSpPr txBox="1"/>
          <p:nvPr/>
        </p:nvSpPr>
        <p:spPr>
          <a:xfrm>
            <a:off x="163512" y="449703"/>
            <a:ext cx="6553200" cy="646331"/>
          </a:xfrm>
          <a:prstGeom prst="rect">
            <a:avLst/>
          </a:prstGeom>
          <a:noFill/>
        </p:spPr>
        <p:txBody>
          <a:bodyPr wrap="square" rtlCol="0">
            <a:spAutoFit/>
          </a:bodyPr>
          <a:lstStyle/>
          <a:p>
            <a:r>
              <a:rPr lang="en-US" sz="3600" dirty="0" smtClean="0">
                <a:solidFill>
                  <a:schemeClr val="bg1"/>
                </a:solidFill>
              </a:rPr>
              <a:t>Cloud Service Models</a:t>
            </a:r>
            <a:endParaRPr lang="en-US" sz="3600" dirty="0">
              <a:solidFill>
                <a:schemeClr val="bg1"/>
              </a:solidFill>
            </a:endParaRPr>
          </a:p>
        </p:txBody>
      </p:sp>
      <p:sp>
        <p:nvSpPr>
          <p:cNvPr id="3" name="Rectangle 2"/>
          <p:cNvSpPr/>
          <p:nvPr/>
        </p:nvSpPr>
        <p:spPr>
          <a:xfrm>
            <a:off x="163512" y="1493837"/>
            <a:ext cx="9525000" cy="1569660"/>
          </a:xfrm>
          <a:prstGeom prst="rect">
            <a:avLst/>
          </a:prstGeom>
        </p:spPr>
        <p:txBody>
          <a:bodyPr wrap="square">
            <a:spAutoFit/>
          </a:bodyPr>
          <a:lstStyle/>
          <a:p>
            <a:pPr marL="342900" indent="-342900">
              <a:buFont typeface="Arial" pitchFamily="34" charset="0"/>
              <a:buChar char="•"/>
            </a:pPr>
            <a:r>
              <a:rPr lang="en-US" dirty="0" smtClean="0"/>
              <a:t>Cloud computing delivers services through three main models. Each model provides different levels of control, flexibility, and management for users. These service models help organizations choose the right level of service according to their needs.</a:t>
            </a:r>
            <a:endParaRPr lang="en-IN" dirty="0"/>
          </a:p>
        </p:txBody>
      </p:sp>
      <p:sp>
        <p:nvSpPr>
          <p:cNvPr id="5" name="TextBox 4"/>
          <p:cNvSpPr txBox="1"/>
          <p:nvPr/>
        </p:nvSpPr>
        <p:spPr>
          <a:xfrm>
            <a:off x="239712" y="3035360"/>
            <a:ext cx="8915400" cy="4524315"/>
          </a:xfrm>
          <a:prstGeom prst="rect">
            <a:avLst/>
          </a:prstGeom>
          <a:noFill/>
        </p:spPr>
        <p:txBody>
          <a:bodyPr wrap="square" rtlCol="0">
            <a:spAutoFit/>
          </a:bodyPr>
          <a:lstStyle/>
          <a:p>
            <a:r>
              <a:rPr lang="en-US" b="1" u="sng" dirty="0" smtClean="0"/>
              <a:t>Service Models</a:t>
            </a:r>
          </a:p>
          <a:p>
            <a:pPr>
              <a:buFont typeface="Arial" pitchFamily="34" charset="0"/>
              <a:buChar char="•"/>
            </a:pPr>
            <a:r>
              <a:rPr lang="en-US" b="1" dirty="0" err="1" smtClean="0"/>
              <a:t>IaaS</a:t>
            </a:r>
            <a:r>
              <a:rPr lang="en-US" b="1" dirty="0" smtClean="0"/>
              <a:t> (Infrastructure as a Service)</a:t>
            </a:r>
            <a:r>
              <a:rPr lang="en-US" dirty="0" smtClean="0"/>
              <a:t/>
            </a:r>
            <a:br>
              <a:rPr lang="en-US" dirty="0" smtClean="0"/>
            </a:br>
            <a:r>
              <a:rPr lang="en-US" dirty="0" smtClean="0"/>
              <a:t>Provides virtual servers, storage, networking, and other infrastructure on rent.</a:t>
            </a:r>
            <a:br>
              <a:rPr lang="en-US" dirty="0" smtClean="0"/>
            </a:br>
            <a:r>
              <a:rPr lang="en-US" i="1" dirty="0" smtClean="0"/>
              <a:t>Example:</a:t>
            </a:r>
            <a:r>
              <a:rPr lang="en-US" dirty="0" smtClean="0"/>
              <a:t> AWS EC2, Google Compute Engine</a:t>
            </a:r>
          </a:p>
          <a:p>
            <a:pPr>
              <a:buFont typeface="Arial" pitchFamily="34" charset="0"/>
              <a:buChar char="•"/>
            </a:pPr>
            <a:r>
              <a:rPr lang="en-US" b="1" dirty="0" err="1" smtClean="0"/>
              <a:t>PaaS</a:t>
            </a:r>
            <a:r>
              <a:rPr lang="en-US" b="1" dirty="0" smtClean="0"/>
              <a:t> (Platform as a Service)</a:t>
            </a:r>
            <a:r>
              <a:rPr lang="en-US" dirty="0" smtClean="0"/>
              <a:t/>
            </a:r>
            <a:br>
              <a:rPr lang="en-US" dirty="0" smtClean="0"/>
            </a:br>
            <a:r>
              <a:rPr lang="en-US" dirty="0" smtClean="0"/>
              <a:t>Offers a platform for developers to build, deploy, and manage applications without managing infrastructure.</a:t>
            </a:r>
            <a:br>
              <a:rPr lang="en-US" dirty="0" smtClean="0"/>
            </a:br>
            <a:r>
              <a:rPr lang="en-US" i="1" dirty="0" smtClean="0"/>
              <a:t>Example:</a:t>
            </a:r>
            <a:r>
              <a:rPr lang="en-US" dirty="0" smtClean="0"/>
              <a:t> Google App Engine, Microsoft Azure App Services</a:t>
            </a:r>
          </a:p>
          <a:p>
            <a:pPr>
              <a:buFont typeface="Arial" pitchFamily="34" charset="0"/>
              <a:buChar char="•"/>
            </a:pPr>
            <a:r>
              <a:rPr lang="en-US" b="1" dirty="0" err="1" smtClean="0"/>
              <a:t>SaaS</a:t>
            </a:r>
            <a:r>
              <a:rPr lang="en-US" b="1" dirty="0" smtClean="0"/>
              <a:t> (Software as a Service)</a:t>
            </a:r>
            <a:r>
              <a:rPr lang="en-US" dirty="0" smtClean="0"/>
              <a:t/>
            </a:r>
            <a:br>
              <a:rPr lang="en-US" dirty="0" smtClean="0"/>
            </a:br>
            <a:r>
              <a:rPr lang="en-US" dirty="0" smtClean="0"/>
              <a:t>Delivers fully managed software applications accessible via internet.</a:t>
            </a:r>
            <a:br>
              <a:rPr lang="en-US" dirty="0" smtClean="0"/>
            </a:br>
            <a:r>
              <a:rPr lang="en-US" i="1" dirty="0" smtClean="0"/>
              <a:t>Example:</a:t>
            </a:r>
            <a:r>
              <a:rPr lang="en-US" dirty="0" smtClean="0"/>
              <a:t> Gmail, Google Drive, </a:t>
            </a:r>
            <a:r>
              <a:rPr lang="en-US" dirty="0" err="1" smtClean="0"/>
              <a:t>Salesforce</a:t>
            </a:r>
            <a:endParaRPr lang="en-US" dirty="0"/>
          </a:p>
        </p:txBody>
      </p:sp>
    </p:spTree>
    <p:extLst>
      <p:ext uri="{BB962C8B-B14F-4D97-AF65-F5344CB8AC3E}">
        <p14:creationId xmlns:p14="http://schemas.microsoft.com/office/powerpoint/2010/main" xmlns="" val="1498963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512" y="1341437"/>
            <a:ext cx="5486400" cy="3785652"/>
          </a:xfrm>
          <a:prstGeom prst="rect">
            <a:avLst/>
          </a:prstGeom>
        </p:spPr>
        <p:txBody>
          <a:bodyPr wrap="square">
            <a:spAutoFit/>
          </a:bodyPr>
          <a:lstStyle/>
          <a:p>
            <a:pPr>
              <a:buFont typeface="Arial" pitchFamily="34" charset="0"/>
              <a:buChar char="•"/>
            </a:pPr>
            <a:r>
              <a:rPr lang="en-US" b="1" dirty="0" smtClean="0"/>
              <a:t>Public Cloud</a:t>
            </a:r>
            <a:r>
              <a:rPr lang="en-US" dirty="0" smtClean="0"/>
              <a:t/>
            </a:r>
            <a:br>
              <a:rPr lang="en-US" dirty="0" smtClean="0"/>
            </a:br>
            <a:r>
              <a:rPr lang="en-US" dirty="0" smtClean="0"/>
              <a:t>Services offered over the internet and shared among multiple users.</a:t>
            </a:r>
            <a:br>
              <a:rPr lang="en-US" dirty="0" smtClean="0"/>
            </a:br>
            <a:r>
              <a:rPr lang="en-US" i="1" dirty="0" smtClean="0"/>
              <a:t>Example:</a:t>
            </a:r>
            <a:r>
              <a:rPr lang="en-US" dirty="0" smtClean="0"/>
              <a:t> AWS, Azure, Google Cloud</a:t>
            </a:r>
          </a:p>
          <a:p>
            <a:pPr>
              <a:buFont typeface="Arial" pitchFamily="34" charset="0"/>
              <a:buChar char="•"/>
            </a:pPr>
            <a:r>
              <a:rPr lang="en-US" b="1" dirty="0" smtClean="0"/>
              <a:t>Private Cloud</a:t>
            </a:r>
            <a:r>
              <a:rPr lang="en-US" dirty="0" smtClean="0"/>
              <a:t/>
            </a:r>
            <a:br>
              <a:rPr lang="en-US" dirty="0" smtClean="0"/>
            </a:br>
            <a:r>
              <a:rPr lang="en-US" dirty="0" smtClean="0"/>
              <a:t>Cloud infrastructure dedicated to a single organization for enhanced security and control.</a:t>
            </a:r>
            <a:br>
              <a:rPr lang="en-US" dirty="0" smtClean="0"/>
            </a:br>
            <a:r>
              <a:rPr lang="en-US" i="1" dirty="0" smtClean="0"/>
              <a:t>Example:</a:t>
            </a:r>
            <a:r>
              <a:rPr lang="en-US" dirty="0" smtClean="0"/>
              <a:t> On-premise VMware Cloud</a:t>
            </a:r>
          </a:p>
          <a:p>
            <a:endParaRPr lang="en-IN" dirty="0"/>
          </a:p>
        </p:txBody>
      </p:sp>
      <p:sp>
        <p:nvSpPr>
          <p:cNvPr id="8" name="TextBox 7"/>
          <p:cNvSpPr txBox="1"/>
          <p:nvPr/>
        </p:nvSpPr>
        <p:spPr>
          <a:xfrm>
            <a:off x="239712" y="4694237"/>
            <a:ext cx="9601200" cy="3046988"/>
          </a:xfrm>
          <a:prstGeom prst="rect">
            <a:avLst/>
          </a:prstGeom>
          <a:noFill/>
        </p:spPr>
        <p:txBody>
          <a:bodyPr wrap="square" rtlCol="0">
            <a:spAutoFit/>
          </a:bodyPr>
          <a:lstStyle/>
          <a:p>
            <a:pPr>
              <a:buFont typeface="Arial" pitchFamily="34" charset="0"/>
              <a:buChar char="•"/>
            </a:pPr>
            <a:r>
              <a:rPr lang="en-US" b="1" dirty="0" smtClean="0"/>
              <a:t>Hybrid Cloud</a:t>
            </a:r>
            <a:r>
              <a:rPr lang="en-US" dirty="0" smtClean="0"/>
              <a:t/>
            </a:r>
            <a:br>
              <a:rPr lang="en-US" dirty="0" smtClean="0"/>
            </a:br>
            <a:r>
              <a:rPr lang="en-US" dirty="0" smtClean="0"/>
              <a:t>Combination of public and private clouds, allowing data and applications to move between them.</a:t>
            </a:r>
            <a:br>
              <a:rPr lang="en-US" dirty="0" smtClean="0"/>
            </a:br>
            <a:r>
              <a:rPr lang="en-US" i="1" dirty="0" smtClean="0"/>
              <a:t>Example:</a:t>
            </a:r>
            <a:r>
              <a:rPr lang="en-US" dirty="0" smtClean="0"/>
              <a:t> Azure Hybrid Cloud</a:t>
            </a:r>
          </a:p>
          <a:p>
            <a:pPr>
              <a:buFont typeface="Arial" pitchFamily="34" charset="0"/>
              <a:buChar char="•"/>
            </a:pPr>
            <a:r>
              <a:rPr lang="en-US" b="1" dirty="0" smtClean="0"/>
              <a:t>Community Cloud</a:t>
            </a:r>
            <a:r>
              <a:rPr lang="en-US" dirty="0" smtClean="0"/>
              <a:t/>
            </a:r>
            <a:br>
              <a:rPr lang="en-US" dirty="0" smtClean="0"/>
            </a:br>
            <a:r>
              <a:rPr lang="en-US" dirty="0" smtClean="0"/>
              <a:t>Shared infrastructure used by a specific group or community with common concerns (e.g., banks, universities, governments).</a:t>
            </a:r>
          </a:p>
          <a:p>
            <a:endParaRPr lang="en-US" dirty="0"/>
          </a:p>
        </p:txBody>
      </p:sp>
      <p:pic>
        <p:nvPicPr>
          <p:cNvPr id="4099" name="Picture 3"/>
          <p:cNvPicPr>
            <a:picLocks noChangeAspect="1" noChangeArrowheads="1"/>
          </p:cNvPicPr>
          <p:nvPr/>
        </p:nvPicPr>
        <p:blipFill>
          <a:blip r:embed="rId2"/>
          <a:srcRect/>
          <a:stretch>
            <a:fillRect/>
          </a:stretch>
        </p:blipFill>
        <p:spPr bwMode="auto">
          <a:xfrm>
            <a:off x="5573712" y="1722437"/>
            <a:ext cx="4389438" cy="3200400"/>
          </a:xfrm>
          <a:prstGeom prst="rect">
            <a:avLst/>
          </a:prstGeom>
          <a:ln>
            <a:noFill/>
          </a:ln>
          <a:effectLst>
            <a:softEdge rad="112500"/>
          </a:effectLst>
        </p:spPr>
      </p:pic>
      <p:sp>
        <p:nvSpPr>
          <p:cNvPr id="10" name="TextBox 9"/>
          <p:cNvSpPr txBox="1"/>
          <p:nvPr/>
        </p:nvSpPr>
        <p:spPr>
          <a:xfrm>
            <a:off x="239712" y="427037"/>
            <a:ext cx="6553200" cy="646331"/>
          </a:xfrm>
          <a:prstGeom prst="rect">
            <a:avLst/>
          </a:prstGeom>
          <a:noFill/>
        </p:spPr>
        <p:txBody>
          <a:bodyPr wrap="square" rtlCol="0">
            <a:spAutoFit/>
          </a:bodyPr>
          <a:lstStyle/>
          <a:p>
            <a:r>
              <a:rPr lang="en-US" sz="3600" dirty="0" smtClean="0">
                <a:solidFill>
                  <a:schemeClr val="bg1"/>
                </a:solidFill>
              </a:rPr>
              <a:t>Deployment Models</a:t>
            </a:r>
            <a:endParaRPr lang="en-US" sz="3600" dirty="0">
              <a:solidFill>
                <a:schemeClr val="bg1"/>
              </a:solidFill>
            </a:endParaRPr>
          </a:p>
        </p:txBody>
      </p:sp>
    </p:spTree>
    <p:extLst>
      <p:ext uri="{BB962C8B-B14F-4D97-AF65-F5344CB8AC3E}">
        <p14:creationId xmlns:p14="http://schemas.microsoft.com/office/powerpoint/2010/main" xmlns="" val="1356991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512" y="1417637"/>
            <a:ext cx="9677400" cy="3046988"/>
          </a:xfrm>
          <a:prstGeom prst="rect">
            <a:avLst/>
          </a:prstGeom>
        </p:spPr>
        <p:txBody>
          <a:bodyPr wrap="square">
            <a:spAutoFit/>
          </a:bodyPr>
          <a:lstStyle/>
          <a:p>
            <a:pPr marL="457200" indent="-457200">
              <a:buFont typeface="Wingdings" pitchFamily="2" charset="2"/>
              <a:buChar char="q"/>
            </a:pPr>
            <a:r>
              <a:rPr lang="en-US" dirty="0" smtClean="0"/>
              <a:t>Cloud architecture refers to the structure and design of the systems and technologies that enable cloud computing. It includes the front-end interfaces used by users, the back-end infrastructure where processing and storage occur, and the virtualization layer that allows multiple virtual resources to run on shared hardware. A strong cloud architecture ensures scalability, security, high availability, and efficient delivery of cloud services.</a:t>
            </a:r>
            <a:endParaRPr lang="en-US" dirty="0"/>
          </a:p>
          <a:p>
            <a:endParaRPr lang="en-IN" dirty="0"/>
          </a:p>
        </p:txBody>
      </p:sp>
      <p:sp>
        <p:nvSpPr>
          <p:cNvPr id="4" name="TextBox 3"/>
          <p:cNvSpPr txBox="1"/>
          <p:nvPr/>
        </p:nvSpPr>
        <p:spPr>
          <a:xfrm>
            <a:off x="239712" y="4313237"/>
            <a:ext cx="5562600" cy="3416320"/>
          </a:xfrm>
          <a:prstGeom prst="rect">
            <a:avLst/>
          </a:prstGeom>
          <a:noFill/>
        </p:spPr>
        <p:txBody>
          <a:bodyPr wrap="square" rtlCol="0">
            <a:spAutoFit/>
          </a:bodyPr>
          <a:lstStyle/>
          <a:p>
            <a:pPr>
              <a:buFont typeface="Wingdings" pitchFamily="2" charset="2"/>
              <a:buChar char="q"/>
            </a:pPr>
            <a:r>
              <a:rPr lang="en-US" dirty="0" smtClean="0"/>
              <a:t>Front-end (user interface &amp; client devices)</a:t>
            </a:r>
          </a:p>
          <a:p>
            <a:pPr>
              <a:buFont typeface="Wingdings" pitchFamily="2" charset="2"/>
              <a:buChar char="q"/>
            </a:pPr>
            <a:r>
              <a:rPr lang="en-US" dirty="0" smtClean="0"/>
              <a:t>Back-end (servers, databases, applications)</a:t>
            </a:r>
          </a:p>
          <a:p>
            <a:pPr>
              <a:buFont typeface="Wingdings" pitchFamily="2" charset="2"/>
              <a:buChar char="q"/>
            </a:pPr>
            <a:r>
              <a:rPr lang="en-US" dirty="0" smtClean="0"/>
              <a:t>Virtualization layer</a:t>
            </a:r>
          </a:p>
          <a:p>
            <a:pPr>
              <a:buFont typeface="Wingdings" pitchFamily="2" charset="2"/>
              <a:buChar char="q"/>
            </a:pPr>
            <a:r>
              <a:rPr lang="en-US" dirty="0" smtClean="0"/>
              <a:t>Cloud storage system</a:t>
            </a:r>
          </a:p>
          <a:p>
            <a:pPr>
              <a:buFont typeface="Wingdings" pitchFamily="2" charset="2"/>
              <a:buChar char="q"/>
            </a:pPr>
            <a:r>
              <a:rPr lang="en-US" dirty="0" smtClean="0"/>
              <a:t>Networking system</a:t>
            </a:r>
          </a:p>
          <a:p>
            <a:pPr>
              <a:buFont typeface="Wingdings" pitchFamily="2" charset="2"/>
              <a:buChar char="q"/>
            </a:pPr>
            <a:r>
              <a:rPr lang="en-US" dirty="0" smtClean="0"/>
              <a:t>Cloud management &amp; security tools</a:t>
            </a:r>
          </a:p>
          <a:p>
            <a:pPr>
              <a:buFont typeface="Wingdings" pitchFamily="2" charset="2"/>
              <a:buChar char="q"/>
            </a:pPr>
            <a:endParaRPr lang="en-US" dirty="0"/>
          </a:p>
        </p:txBody>
      </p:sp>
      <p:pic>
        <p:nvPicPr>
          <p:cNvPr id="5122" name="Picture 2"/>
          <p:cNvPicPr>
            <a:picLocks noChangeAspect="1" noChangeArrowheads="1"/>
          </p:cNvPicPr>
          <p:nvPr/>
        </p:nvPicPr>
        <p:blipFill>
          <a:blip r:embed="rId2"/>
          <a:srcRect/>
          <a:stretch>
            <a:fillRect/>
          </a:stretch>
        </p:blipFill>
        <p:spPr bwMode="auto">
          <a:xfrm>
            <a:off x="6150970" y="3779837"/>
            <a:ext cx="3453404" cy="3779838"/>
          </a:xfrm>
          <a:prstGeom prst="rect">
            <a:avLst/>
          </a:prstGeom>
          <a:ln>
            <a:noFill/>
          </a:ln>
          <a:effectLst>
            <a:softEdge rad="112500"/>
          </a:effectLst>
        </p:spPr>
      </p:pic>
      <p:sp>
        <p:nvSpPr>
          <p:cNvPr id="6" name="TextBox 5"/>
          <p:cNvSpPr txBox="1"/>
          <p:nvPr/>
        </p:nvSpPr>
        <p:spPr>
          <a:xfrm>
            <a:off x="239712" y="503237"/>
            <a:ext cx="6477000" cy="646331"/>
          </a:xfrm>
          <a:prstGeom prst="rect">
            <a:avLst/>
          </a:prstGeom>
          <a:noFill/>
        </p:spPr>
        <p:txBody>
          <a:bodyPr wrap="square" rtlCol="0">
            <a:spAutoFit/>
          </a:bodyPr>
          <a:lstStyle/>
          <a:p>
            <a:r>
              <a:rPr lang="en-US" sz="3600" dirty="0" smtClean="0">
                <a:solidFill>
                  <a:schemeClr val="bg1"/>
                </a:solidFill>
              </a:rPr>
              <a:t>Cloud Architecture</a:t>
            </a:r>
            <a:endParaRPr lang="en-US" sz="3600" dirty="0">
              <a:solidFill>
                <a:schemeClr val="bg1"/>
              </a:solidFill>
            </a:endParaRPr>
          </a:p>
        </p:txBody>
      </p:sp>
    </p:spTree>
    <p:extLst>
      <p:ext uri="{BB962C8B-B14F-4D97-AF65-F5344CB8AC3E}">
        <p14:creationId xmlns:p14="http://schemas.microsoft.com/office/powerpoint/2010/main" xmlns="" val="1790399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712" y="1570037"/>
            <a:ext cx="8991600" cy="6001643"/>
          </a:xfrm>
          <a:prstGeom prst="rect">
            <a:avLst/>
          </a:prstGeom>
        </p:spPr>
        <p:txBody>
          <a:bodyPr wrap="square">
            <a:spAutoFit/>
          </a:bodyPr>
          <a:lstStyle/>
          <a:p>
            <a:r>
              <a:rPr lang="en-US" dirty="0" smtClean="0"/>
              <a:t>Cloud computing services are offered by several global technology companies that provide powerful infrastructure, platforms, and software solutions over the internet. These providers offer scalable services, high security, global data centers, and advanced tools for computing, storage, AI, and application deployment.</a:t>
            </a:r>
          </a:p>
          <a:p>
            <a:pPr>
              <a:buFont typeface="Wingdings" pitchFamily="2" charset="2"/>
              <a:buChar char="q"/>
            </a:pPr>
            <a:endParaRPr lang="en-US" b="1" dirty="0" smtClean="0"/>
          </a:p>
          <a:p>
            <a:pPr>
              <a:buFont typeface="Wingdings" pitchFamily="2" charset="2"/>
              <a:buChar char="q"/>
            </a:pPr>
            <a:r>
              <a:rPr lang="en-US" b="1" dirty="0" smtClean="0"/>
              <a:t>Amazon Web Services (AWS)</a:t>
            </a:r>
            <a:r>
              <a:rPr lang="en-US" dirty="0" smtClean="0"/>
              <a:t/>
            </a:r>
            <a:br>
              <a:rPr lang="en-US" dirty="0" smtClean="0"/>
            </a:br>
            <a:r>
              <a:rPr lang="en-US" dirty="0" smtClean="0"/>
              <a:t>Largest cloud platform offering wide range of services including compute (EC2), storage (S3), and databases (RDS).</a:t>
            </a:r>
          </a:p>
          <a:p>
            <a:pPr>
              <a:buFont typeface="Wingdings" pitchFamily="2" charset="2"/>
              <a:buChar char="q"/>
            </a:pPr>
            <a:r>
              <a:rPr lang="en-US" b="1" dirty="0" smtClean="0"/>
              <a:t>Microsoft Azure</a:t>
            </a:r>
            <a:r>
              <a:rPr lang="en-US" dirty="0" smtClean="0"/>
              <a:t/>
            </a:r>
            <a:br>
              <a:rPr lang="en-US" dirty="0" smtClean="0"/>
            </a:br>
            <a:r>
              <a:rPr lang="en-US" dirty="0" smtClean="0"/>
              <a:t>Popular for enterprise solutions, hybrid cloud, and integrations with Microsoft products like Windows Server &amp; Office 365.</a:t>
            </a:r>
          </a:p>
          <a:p>
            <a:pPr>
              <a:buFont typeface="Wingdings" pitchFamily="2" charset="2"/>
              <a:buChar char="q"/>
            </a:pPr>
            <a:r>
              <a:rPr lang="en-US" b="1" dirty="0" smtClean="0"/>
              <a:t>Google Cloud Platform (GCP)</a:t>
            </a:r>
            <a:r>
              <a:rPr lang="en-US" dirty="0" smtClean="0"/>
              <a:t/>
            </a:r>
            <a:br>
              <a:rPr lang="en-US" dirty="0" smtClean="0"/>
            </a:br>
            <a:r>
              <a:rPr lang="en-US" dirty="0" smtClean="0"/>
              <a:t>Known for strong data analytics, machine learning, and scalable </a:t>
            </a:r>
            <a:r>
              <a:rPr lang="en-US" dirty="0" err="1" smtClean="0"/>
              <a:t>Kubernetes</a:t>
            </a:r>
            <a:r>
              <a:rPr lang="en-US" dirty="0" smtClean="0"/>
              <a:t>-based solutions.</a:t>
            </a:r>
          </a:p>
          <a:p>
            <a:r>
              <a:rPr lang="en-US" dirty="0" smtClean="0"/>
              <a:t>.</a:t>
            </a:r>
            <a:endParaRPr lang="en-US" dirty="0"/>
          </a:p>
        </p:txBody>
      </p:sp>
      <p:sp>
        <p:nvSpPr>
          <p:cNvPr id="4" name="TextBox 3">
            <a:extLst>
              <a:ext uri="{FF2B5EF4-FFF2-40B4-BE49-F238E27FC236}">
                <a16:creationId xmlns:a16="http://schemas.microsoft.com/office/drawing/2014/main" xmlns="" id="{796C5AA7-2988-7F13-83C7-10E4C78BBDCF}"/>
              </a:ext>
            </a:extLst>
          </p:cNvPr>
          <p:cNvSpPr txBox="1"/>
          <p:nvPr/>
        </p:nvSpPr>
        <p:spPr>
          <a:xfrm>
            <a:off x="239712" y="462442"/>
            <a:ext cx="5867400" cy="707886"/>
          </a:xfrm>
          <a:prstGeom prst="rect">
            <a:avLst/>
          </a:prstGeom>
          <a:noFill/>
        </p:spPr>
        <p:txBody>
          <a:bodyPr wrap="square" rtlCol="0">
            <a:spAutoFit/>
          </a:bodyPr>
          <a:lstStyle/>
          <a:p>
            <a:r>
              <a:rPr lang="en-US" sz="4000" dirty="0" smtClean="0">
                <a:solidFill>
                  <a:schemeClr val="bg1"/>
                </a:solidFill>
              </a:rPr>
              <a:t>Cloud Providers</a:t>
            </a:r>
            <a:endParaRPr lang="en-IN" sz="4000" dirty="0">
              <a:solidFill>
                <a:schemeClr val="bg1"/>
              </a:solidFill>
            </a:endParaRPr>
          </a:p>
        </p:txBody>
      </p:sp>
    </p:spTree>
    <p:extLst>
      <p:ext uri="{BB962C8B-B14F-4D97-AF65-F5344CB8AC3E}">
        <p14:creationId xmlns:p14="http://schemas.microsoft.com/office/powerpoint/2010/main" xmlns="" val="285604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712" y="1570037"/>
            <a:ext cx="9601200" cy="5262979"/>
          </a:xfrm>
          <a:prstGeom prst="rect">
            <a:avLst/>
          </a:prstGeom>
        </p:spPr>
        <p:txBody>
          <a:bodyPr wrap="square">
            <a:spAutoFit/>
          </a:bodyPr>
          <a:lstStyle/>
          <a:p>
            <a:r>
              <a:rPr lang="en-US" dirty="0" smtClean="0"/>
              <a:t>Cloud storage and data management allow users and organizations to store, access, and manage data over the internet instead of local systems. It ensures secure storage, easy access from anywhere, scalability based on demand, and protection against data loss. Cloud data management also includes backup, recovery, and efficient organization of data for smooth business operations.</a:t>
            </a:r>
          </a:p>
          <a:p>
            <a:r>
              <a:rPr lang="en-US" b="1" dirty="0" smtClean="0"/>
              <a:t>Key Points:</a:t>
            </a:r>
          </a:p>
          <a:p>
            <a:pPr>
              <a:buFont typeface="Wingdings" pitchFamily="2" charset="2"/>
              <a:buChar char="q"/>
            </a:pPr>
            <a:r>
              <a:rPr lang="en-US" b="1" dirty="0" smtClean="0"/>
              <a:t>Remote Data Storage</a:t>
            </a:r>
            <a:r>
              <a:rPr lang="en-US" dirty="0" smtClean="0"/>
              <a:t> — Access files and databases online anytime</a:t>
            </a:r>
          </a:p>
          <a:p>
            <a:pPr>
              <a:buFont typeface="Wingdings" pitchFamily="2" charset="2"/>
              <a:buChar char="q"/>
            </a:pPr>
            <a:r>
              <a:rPr lang="en-US" b="1" dirty="0" smtClean="0"/>
              <a:t>Scalability</a:t>
            </a:r>
            <a:r>
              <a:rPr lang="en-US" dirty="0" smtClean="0"/>
              <a:t> — Increase or decrease storage as needed</a:t>
            </a:r>
          </a:p>
          <a:p>
            <a:pPr>
              <a:buFont typeface="Wingdings" pitchFamily="2" charset="2"/>
              <a:buChar char="q"/>
            </a:pPr>
            <a:r>
              <a:rPr lang="en-US" b="1" dirty="0" smtClean="0"/>
              <a:t>Data Backup &amp; Recovery</a:t>
            </a:r>
            <a:r>
              <a:rPr lang="en-US" dirty="0" smtClean="0"/>
              <a:t> — Prevent data loss and enable quick restoration</a:t>
            </a:r>
          </a:p>
          <a:p>
            <a:pPr>
              <a:buFont typeface="Wingdings" pitchFamily="2" charset="2"/>
              <a:buChar char="q"/>
            </a:pPr>
            <a:r>
              <a:rPr lang="en-US" b="1" dirty="0" smtClean="0"/>
              <a:t>Security &amp; Encryption</a:t>
            </a:r>
            <a:r>
              <a:rPr lang="en-US" dirty="0" smtClean="0"/>
              <a:t> — Protect stored information from unauthorized access</a:t>
            </a:r>
          </a:p>
          <a:p>
            <a:pPr>
              <a:buFont typeface="Wingdings" pitchFamily="2" charset="2"/>
              <a:buChar char="q"/>
            </a:pPr>
            <a:r>
              <a:rPr lang="en-US" b="1" dirty="0" smtClean="0"/>
              <a:t>High Availability</a:t>
            </a:r>
            <a:r>
              <a:rPr lang="en-US" dirty="0" smtClean="0"/>
              <a:t> — Access data even during system failures</a:t>
            </a:r>
          </a:p>
          <a:p>
            <a:pPr>
              <a:buFont typeface="Wingdings" pitchFamily="2" charset="2"/>
              <a:buChar char="q"/>
            </a:pPr>
            <a:r>
              <a:rPr lang="en-US" b="1" dirty="0" smtClean="0"/>
              <a:t>Examples:</a:t>
            </a:r>
            <a:r>
              <a:rPr lang="en-US" dirty="0" smtClean="0"/>
              <a:t> Google Drive, AWS S3, </a:t>
            </a:r>
            <a:r>
              <a:rPr lang="en-US" dirty="0" err="1" smtClean="0"/>
              <a:t>OneDrive</a:t>
            </a:r>
            <a:r>
              <a:rPr lang="en-US" dirty="0" smtClean="0"/>
              <a:t>, </a:t>
            </a:r>
            <a:r>
              <a:rPr lang="en-US" dirty="0" err="1" smtClean="0"/>
              <a:t>Dropbox</a:t>
            </a:r>
            <a:endParaRPr lang="en-US" dirty="0"/>
          </a:p>
        </p:txBody>
      </p:sp>
      <p:sp>
        <p:nvSpPr>
          <p:cNvPr id="3" name="TextBox 2"/>
          <p:cNvSpPr txBox="1"/>
          <p:nvPr/>
        </p:nvSpPr>
        <p:spPr>
          <a:xfrm>
            <a:off x="239712" y="350837"/>
            <a:ext cx="7542872" cy="646331"/>
          </a:xfrm>
          <a:prstGeom prst="rect">
            <a:avLst/>
          </a:prstGeom>
          <a:noFill/>
        </p:spPr>
        <p:txBody>
          <a:bodyPr wrap="square" rtlCol="0">
            <a:spAutoFit/>
          </a:bodyPr>
          <a:lstStyle/>
          <a:p>
            <a:r>
              <a:rPr lang="en-US" sz="3600" dirty="0" smtClean="0">
                <a:solidFill>
                  <a:schemeClr val="bg1"/>
                </a:solidFill>
              </a:rPr>
              <a:t>Cloud Storage And Data Management</a:t>
            </a:r>
            <a:endParaRPr lang="en-US" sz="3600" dirty="0">
              <a:solidFill>
                <a:schemeClr val="bg1"/>
              </a:solidFill>
            </a:endParaRPr>
          </a:p>
        </p:txBody>
      </p:sp>
    </p:spTree>
    <p:extLst>
      <p:ext uri="{BB962C8B-B14F-4D97-AF65-F5344CB8AC3E}">
        <p14:creationId xmlns:p14="http://schemas.microsoft.com/office/powerpoint/2010/main" xmlns="" val="1553082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712" y="1493837"/>
            <a:ext cx="9601200" cy="2308324"/>
          </a:xfrm>
          <a:prstGeom prst="rect">
            <a:avLst/>
          </a:prstGeom>
        </p:spPr>
        <p:txBody>
          <a:bodyPr wrap="square">
            <a:spAutoFit/>
          </a:bodyPr>
          <a:lstStyle/>
          <a:p>
            <a:r>
              <a:rPr lang="en-US" dirty="0" smtClean="0"/>
              <a:t>Security in cloud computing ensures that data, applications, and services stored online are protected from unauthorized access, cyber-attacks, and data breaches. Cloud security uses advanced encryption, access controls, monitoring, and compliance policies to maintain privacy and trust. Strong security measures help organizations safeguard sensitive information while benefiting from cloud technology.</a:t>
            </a:r>
            <a:endParaRPr lang="en-IN" dirty="0"/>
          </a:p>
        </p:txBody>
      </p:sp>
      <p:sp>
        <p:nvSpPr>
          <p:cNvPr id="3" name="TextBox 2"/>
          <p:cNvSpPr txBox="1"/>
          <p:nvPr/>
        </p:nvSpPr>
        <p:spPr>
          <a:xfrm>
            <a:off x="208078" y="427037"/>
            <a:ext cx="2967479" cy="646331"/>
          </a:xfrm>
          <a:prstGeom prst="rect">
            <a:avLst/>
          </a:prstGeom>
          <a:noFill/>
        </p:spPr>
        <p:txBody>
          <a:bodyPr wrap="none" rtlCol="0">
            <a:spAutoFit/>
          </a:bodyPr>
          <a:lstStyle/>
          <a:p>
            <a:r>
              <a:rPr lang="en-US" sz="3600" dirty="0" smtClean="0">
                <a:solidFill>
                  <a:schemeClr val="bg1"/>
                </a:solidFill>
              </a:rPr>
              <a:t>Cloud Security</a:t>
            </a:r>
            <a:endParaRPr lang="en-US" sz="3600" dirty="0">
              <a:solidFill>
                <a:schemeClr val="bg1"/>
              </a:solidFill>
            </a:endParaRPr>
          </a:p>
        </p:txBody>
      </p:sp>
      <p:sp>
        <p:nvSpPr>
          <p:cNvPr id="4" name="TextBox 3"/>
          <p:cNvSpPr txBox="1"/>
          <p:nvPr/>
        </p:nvSpPr>
        <p:spPr>
          <a:xfrm>
            <a:off x="315912" y="4084637"/>
            <a:ext cx="5715000" cy="3046988"/>
          </a:xfrm>
          <a:prstGeom prst="rect">
            <a:avLst/>
          </a:prstGeom>
          <a:noFill/>
        </p:spPr>
        <p:txBody>
          <a:bodyPr wrap="square" rtlCol="0">
            <a:spAutoFit/>
          </a:bodyPr>
          <a:lstStyle/>
          <a:p>
            <a:r>
              <a:rPr lang="en-US" b="1" dirty="0" smtClean="0"/>
              <a:t>Key Security Features:</a:t>
            </a:r>
          </a:p>
          <a:p>
            <a:pPr>
              <a:buFont typeface="Wingdings" pitchFamily="2" charset="2"/>
              <a:buChar char="q"/>
            </a:pPr>
            <a:r>
              <a:rPr lang="en-US" dirty="0" smtClean="0"/>
              <a:t>Data Encryption</a:t>
            </a:r>
          </a:p>
          <a:p>
            <a:pPr>
              <a:buFont typeface="Wingdings" pitchFamily="2" charset="2"/>
              <a:buChar char="q"/>
            </a:pPr>
            <a:r>
              <a:rPr lang="en-US" dirty="0" smtClean="0"/>
              <a:t>Access Control &amp; Authentication</a:t>
            </a:r>
          </a:p>
          <a:p>
            <a:pPr>
              <a:buFont typeface="Wingdings" pitchFamily="2" charset="2"/>
              <a:buChar char="q"/>
            </a:pPr>
            <a:r>
              <a:rPr lang="en-US" dirty="0" smtClean="0"/>
              <a:t>Firewalls &amp; Intrusion Detection</a:t>
            </a:r>
          </a:p>
          <a:p>
            <a:pPr>
              <a:buFont typeface="Wingdings" pitchFamily="2" charset="2"/>
              <a:buChar char="q"/>
            </a:pPr>
            <a:r>
              <a:rPr lang="en-US" dirty="0" smtClean="0"/>
              <a:t>Regular Security Audits &amp; Monitoring</a:t>
            </a:r>
          </a:p>
          <a:p>
            <a:pPr>
              <a:buFont typeface="Wingdings" pitchFamily="2" charset="2"/>
              <a:buChar char="q"/>
            </a:pPr>
            <a:r>
              <a:rPr lang="en-US" dirty="0" smtClean="0"/>
              <a:t>Backup &amp; Disaster Recovery</a:t>
            </a:r>
          </a:p>
          <a:p>
            <a:pPr>
              <a:buFont typeface="Wingdings" pitchFamily="2" charset="2"/>
              <a:buChar char="q"/>
            </a:pPr>
            <a:r>
              <a:rPr lang="en-US" dirty="0" smtClean="0"/>
              <a:t>Compliance Standards \</a:t>
            </a:r>
          </a:p>
          <a:p>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5802312" y="3475037"/>
            <a:ext cx="4102121" cy="3929063"/>
          </a:xfrm>
          <a:prstGeom prst="rect">
            <a:avLst/>
          </a:prstGeom>
          <a:ln>
            <a:noFill/>
          </a:ln>
          <a:effectLst>
            <a:softEdge rad="112500"/>
          </a:effectLst>
        </p:spPr>
      </p:pic>
    </p:spTree>
    <p:extLst>
      <p:ext uri="{BB962C8B-B14F-4D97-AF65-F5344CB8AC3E}">
        <p14:creationId xmlns:p14="http://schemas.microsoft.com/office/powerpoint/2010/main" xmlns="" val="3247163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712" y="503237"/>
            <a:ext cx="6477000" cy="646331"/>
          </a:xfrm>
          <a:prstGeom prst="rect">
            <a:avLst/>
          </a:prstGeom>
          <a:noFill/>
        </p:spPr>
        <p:txBody>
          <a:bodyPr wrap="square" rtlCol="0">
            <a:spAutoFit/>
          </a:bodyPr>
          <a:lstStyle/>
          <a:p>
            <a:r>
              <a:rPr lang="en-US" sz="3600" dirty="0" smtClean="0">
                <a:solidFill>
                  <a:schemeClr val="bg1"/>
                </a:solidFill>
              </a:rPr>
              <a:t>Cloud Applications</a:t>
            </a:r>
            <a:endParaRPr lang="en-US" sz="3600" dirty="0">
              <a:solidFill>
                <a:schemeClr val="bg1"/>
              </a:solidFill>
            </a:endParaRPr>
          </a:p>
        </p:txBody>
      </p:sp>
      <p:sp>
        <p:nvSpPr>
          <p:cNvPr id="3" name="TextBox 2"/>
          <p:cNvSpPr txBox="1"/>
          <p:nvPr/>
        </p:nvSpPr>
        <p:spPr>
          <a:xfrm>
            <a:off x="239712" y="1570037"/>
            <a:ext cx="9601200" cy="6001643"/>
          </a:xfrm>
          <a:prstGeom prst="rect">
            <a:avLst/>
          </a:prstGeom>
          <a:noFill/>
        </p:spPr>
        <p:txBody>
          <a:bodyPr wrap="square" rtlCol="0">
            <a:spAutoFit/>
          </a:bodyPr>
          <a:lstStyle/>
          <a:p>
            <a:r>
              <a:rPr lang="en-US" dirty="0" smtClean="0"/>
              <a:t>Cloud computing is used across multiple fields to store data, run applications, analyze information, and deliver digital services efficiently.</a:t>
            </a:r>
          </a:p>
          <a:p>
            <a:endParaRPr lang="en-US" b="1" dirty="0" smtClean="0"/>
          </a:p>
          <a:p>
            <a:r>
              <a:rPr lang="en-US" b="1" dirty="0" smtClean="0"/>
              <a:t>Applications &amp; Use Cases</a:t>
            </a:r>
          </a:p>
          <a:p>
            <a:pPr>
              <a:buFont typeface="Wingdings" pitchFamily="2" charset="2"/>
              <a:buChar char="q"/>
            </a:pPr>
            <a:r>
              <a:rPr lang="en-US" b="1" dirty="0" smtClean="0"/>
              <a:t>Business &amp; Enterprises</a:t>
            </a:r>
            <a:r>
              <a:rPr lang="en-US" dirty="0" smtClean="0"/>
              <a:t> — CRM, ERP, data storage, remote teams</a:t>
            </a:r>
          </a:p>
          <a:p>
            <a:pPr>
              <a:buFont typeface="Wingdings" pitchFamily="2" charset="2"/>
              <a:buChar char="q"/>
            </a:pPr>
            <a:r>
              <a:rPr lang="en-US" b="1" dirty="0" smtClean="0"/>
              <a:t>Education</a:t>
            </a:r>
            <a:r>
              <a:rPr lang="en-US" dirty="0" smtClean="0"/>
              <a:t> — Online learning, digital libraries, virtual labs</a:t>
            </a:r>
          </a:p>
          <a:p>
            <a:pPr>
              <a:buFont typeface="Wingdings" pitchFamily="2" charset="2"/>
              <a:buChar char="q"/>
            </a:pPr>
            <a:r>
              <a:rPr lang="en-US" b="1" dirty="0" smtClean="0"/>
              <a:t>Healthcare</a:t>
            </a:r>
            <a:r>
              <a:rPr lang="en-US" dirty="0" smtClean="0"/>
              <a:t> — Patient records, telemedicine, AI diagnostics</a:t>
            </a:r>
          </a:p>
          <a:p>
            <a:pPr>
              <a:buFont typeface="Wingdings" pitchFamily="2" charset="2"/>
              <a:buChar char="q"/>
            </a:pPr>
            <a:r>
              <a:rPr lang="en-US" b="1" dirty="0" smtClean="0"/>
              <a:t>Banking &amp; Finance</a:t>
            </a:r>
            <a:r>
              <a:rPr lang="en-US" dirty="0" smtClean="0"/>
              <a:t> — Online banking, fraud detection, databases</a:t>
            </a:r>
          </a:p>
          <a:p>
            <a:pPr>
              <a:buFont typeface="Wingdings" pitchFamily="2" charset="2"/>
              <a:buChar char="q"/>
            </a:pPr>
            <a:r>
              <a:rPr lang="en-US" b="1" dirty="0" smtClean="0"/>
              <a:t>Entertainment &amp; Media</a:t>
            </a:r>
            <a:r>
              <a:rPr lang="en-US" dirty="0" smtClean="0"/>
              <a:t> — OTT platforms, gaming, streaming (Netflix, YouTube)</a:t>
            </a:r>
          </a:p>
          <a:p>
            <a:pPr>
              <a:buFont typeface="Wingdings" pitchFamily="2" charset="2"/>
              <a:buChar char="q"/>
            </a:pPr>
            <a:r>
              <a:rPr lang="en-US" b="1" dirty="0" smtClean="0"/>
              <a:t>E-Commerce</a:t>
            </a:r>
            <a:r>
              <a:rPr lang="en-US" dirty="0" smtClean="0"/>
              <a:t> — Online stores, inventory systems, personalized recommendations</a:t>
            </a:r>
          </a:p>
          <a:p>
            <a:pPr>
              <a:buFont typeface="Wingdings" pitchFamily="2" charset="2"/>
              <a:buChar char="q"/>
            </a:pPr>
            <a:r>
              <a:rPr lang="en-US" b="1" dirty="0" smtClean="0"/>
              <a:t>Software Development</a:t>
            </a:r>
            <a:r>
              <a:rPr lang="en-US" dirty="0" smtClean="0"/>
              <a:t> — </a:t>
            </a:r>
            <a:r>
              <a:rPr lang="en-US" dirty="0" err="1" smtClean="0"/>
              <a:t>DevOps</a:t>
            </a:r>
            <a:r>
              <a:rPr lang="en-US" dirty="0" smtClean="0"/>
              <a:t>, CI/CD, testing environments</a:t>
            </a:r>
          </a:p>
          <a:p>
            <a:pPr>
              <a:buFont typeface="Wingdings" pitchFamily="2" charset="2"/>
              <a:buChar char="q"/>
            </a:pPr>
            <a:r>
              <a:rPr lang="en-US" b="1" dirty="0" smtClean="0"/>
              <a:t>Government &amp; Smart Cities</a:t>
            </a:r>
            <a:r>
              <a:rPr lang="en-US" dirty="0" smtClean="0"/>
              <a:t> — Digital services, surveillance, e-governance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5912" y="1570037"/>
            <a:ext cx="9525000" cy="6599575"/>
          </a:xfrm>
          <a:prstGeom prst="rect">
            <a:avLst/>
          </a:prstGeom>
          <a:noFill/>
        </p:spPr>
        <p:txBody>
          <a:bodyPr wrap="square" rtlCol="0">
            <a:spAutoFit/>
          </a:bodyPr>
          <a:lstStyle/>
          <a:p>
            <a:r>
              <a:rPr lang="en-US" dirty="0" smtClean="0"/>
              <a:t>Cloud computing offers several benefits that make it widely used by individuals and organizations. It provides flexibility, cost savings, and efficient access to computing resources, improving productivity and accelerating innovation.</a:t>
            </a:r>
          </a:p>
          <a:p>
            <a:endParaRPr lang="en-US" dirty="0" smtClean="0"/>
          </a:p>
          <a:p>
            <a:r>
              <a:rPr lang="en-US" b="1" dirty="0" smtClean="0"/>
              <a:t>Key Advantages</a:t>
            </a:r>
          </a:p>
          <a:p>
            <a:pPr>
              <a:buFont typeface="Wingdings" pitchFamily="2" charset="2"/>
              <a:buChar char="q"/>
            </a:pPr>
            <a:r>
              <a:rPr lang="en-US" b="1" dirty="0" smtClean="0"/>
              <a:t>Cost Efficient</a:t>
            </a:r>
            <a:r>
              <a:rPr lang="en-US" dirty="0" smtClean="0"/>
              <a:t> — No need for expensive hardware and maintenance</a:t>
            </a:r>
          </a:p>
          <a:p>
            <a:pPr>
              <a:buFont typeface="Wingdings" pitchFamily="2" charset="2"/>
              <a:buChar char="q"/>
            </a:pPr>
            <a:r>
              <a:rPr lang="en-US" b="1" dirty="0" smtClean="0"/>
              <a:t>Scalability</a:t>
            </a:r>
            <a:r>
              <a:rPr lang="en-US" dirty="0" smtClean="0"/>
              <a:t> — Easily increase or decrease resources as needed</a:t>
            </a:r>
          </a:p>
          <a:p>
            <a:pPr>
              <a:buFont typeface="Wingdings" pitchFamily="2" charset="2"/>
              <a:buChar char="q"/>
            </a:pPr>
            <a:r>
              <a:rPr lang="en-US" b="1" dirty="0" smtClean="0"/>
              <a:t>Accessibility</a:t>
            </a:r>
            <a:r>
              <a:rPr lang="en-US" dirty="0" smtClean="0"/>
              <a:t> — Access data and services anytime, anywhere</a:t>
            </a:r>
          </a:p>
          <a:p>
            <a:pPr>
              <a:buFont typeface="Wingdings" pitchFamily="2" charset="2"/>
              <a:buChar char="q"/>
            </a:pPr>
            <a:r>
              <a:rPr lang="en-US" b="1" dirty="0" smtClean="0"/>
              <a:t>High Performance</a:t>
            </a:r>
            <a:r>
              <a:rPr lang="en-US" dirty="0" smtClean="0"/>
              <a:t> — Fast processing, automatic updates, global servers</a:t>
            </a:r>
          </a:p>
          <a:p>
            <a:pPr>
              <a:buFont typeface="Wingdings" pitchFamily="2" charset="2"/>
              <a:buChar char="q"/>
            </a:pPr>
            <a:r>
              <a:rPr lang="en-US" b="1" dirty="0" smtClean="0"/>
              <a:t>Reliability</a:t>
            </a:r>
            <a:r>
              <a:rPr lang="en-US" dirty="0" smtClean="0"/>
              <a:t> — Backup, disaster recovery, and high uptime</a:t>
            </a:r>
          </a:p>
          <a:p>
            <a:pPr>
              <a:buFont typeface="Wingdings" pitchFamily="2" charset="2"/>
              <a:buChar char="q"/>
            </a:pPr>
            <a:r>
              <a:rPr lang="en-US" b="1" dirty="0" smtClean="0"/>
              <a:t>Better Collaboration</a:t>
            </a:r>
            <a:r>
              <a:rPr lang="en-US" dirty="0" smtClean="0"/>
              <a:t> — Real-time sharing and teamwork from any location</a:t>
            </a:r>
          </a:p>
          <a:p>
            <a:pPr>
              <a:buFont typeface="Wingdings" pitchFamily="2" charset="2"/>
              <a:buChar char="q"/>
            </a:pPr>
            <a:r>
              <a:rPr lang="en-US" b="1" dirty="0" smtClean="0"/>
              <a:t>Automatic Updates</a:t>
            </a:r>
            <a:r>
              <a:rPr lang="en-US" dirty="0" smtClean="0"/>
              <a:t> — System and security updates handled by provider</a:t>
            </a:r>
          </a:p>
          <a:p>
            <a:pPr>
              <a:buFont typeface="Wingdings" pitchFamily="2" charset="2"/>
              <a:buChar char="q"/>
            </a:pPr>
            <a:r>
              <a:rPr lang="en-US" b="1" dirty="0" smtClean="0"/>
              <a:t>Environment Friendly</a:t>
            </a:r>
            <a:r>
              <a:rPr lang="en-US" dirty="0" smtClean="0"/>
              <a:t> — Optimized resource usage reduces energy waste</a:t>
            </a:r>
          </a:p>
          <a:p>
            <a:endParaRPr lang="en-US" dirty="0"/>
          </a:p>
        </p:txBody>
      </p:sp>
      <p:sp>
        <p:nvSpPr>
          <p:cNvPr id="3" name="TextBox 2"/>
          <p:cNvSpPr txBox="1"/>
          <p:nvPr/>
        </p:nvSpPr>
        <p:spPr>
          <a:xfrm>
            <a:off x="239712" y="503237"/>
            <a:ext cx="6477000" cy="646331"/>
          </a:xfrm>
          <a:prstGeom prst="rect">
            <a:avLst/>
          </a:prstGeom>
          <a:noFill/>
        </p:spPr>
        <p:txBody>
          <a:bodyPr wrap="square" rtlCol="0">
            <a:spAutoFit/>
          </a:bodyPr>
          <a:lstStyle/>
          <a:p>
            <a:r>
              <a:rPr lang="en-US" sz="3600" dirty="0" smtClean="0">
                <a:solidFill>
                  <a:schemeClr val="bg1"/>
                </a:solidFill>
              </a:rPr>
              <a:t>Advantages of Cloud Computing</a:t>
            </a:r>
            <a:endParaRPr lang="en-US" sz="36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712" y="1493837"/>
            <a:ext cx="9372600" cy="6370975"/>
          </a:xfrm>
          <a:prstGeom prst="rect">
            <a:avLst/>
          </a:prstGeom>
          <a:noFill/>
        </p:spPr>
        <p:txBody>
          <a:bodyPr wrap="square" rtlCol="0">
            <a:spAutoFit/>
          </a:bodyPr>
          <a:lstStyle/>
          <a:p>
            <a:r>
              <a:rPr lang="en-US" dirty="0" smtClean="0"/>
              <a:t>Cloud computing brings many benefits but also faces several challenges related to security, cost management, and dependency on network and service providers. Organizations must address these issues to fully leverage cloud technology effectively.</a:t>
            </a:r>
          </a:p>
          <a:p>
            <a:endParaRPr lang="en-US" b="1" dirty="0" smtClean="0"/>
          </a:p>
          <a:p>
            <a:r>
              <a:rPr lang="en-US" b="1" dirty="0" smtClean="0"/>
              <a:t>Key Challenges</a:t>
            </a:r>
          </a:p>
          <a:p>
            <a:pPr>
              <a:buFont typeface="Wingdings" pitchFamily="2" charset="2"/>
              <a:buChar char="q"/>
            </a:pPr>
            <a:r>
              <a:rPr lang="en-US" b="1" dirty="0" smtClean="0"/>
              <a:t>Security &amp; Privacy Concerns</a:t>
            </a:r>
            <a:r>
              <a:rPr lang="en-US" dirty="0" smtClean="0"/>
              <a:t/>
            </a:r>
            <a:br>
              <a:rPr lang="en-US" dirty="0" smtClean="0"/>
            </a:br>
            <a:r>
              <a:rPr lang="en-US" dirty="0" smtClean="0"/>
              <a:t>Risk of data breaches and unauthorized access</a:t>
            </a:r>
          </a:p>
          <a:p>
            <a:pPr>
              <a:buFont typeface="Wingdings" pitchFamily="2" charset="2"/>
              <a:buChar char="q"/>
            </a:pPr>
            <a:r>
              <a:rPr lang="en-US" b="1" dirty="0" smtClean="0"/>
              <a:t>Downtime &amp; Internet Dependency</a:t>
            </a:r>
            <a:r>
              <a:rPr lang="en-US" dirty="0" smtClean="0"/>
              <a:t/>
            </a:r>
            <a:br>
              <a:rPr lang="en-US" dirty="0" smtClean="0"/>
            </a:br>
            <a:r>
              <a:rPr lang="en-US" dirty="0" smtClean="0"/>
              <a:t>Requires stable internet; outages affect access</a:t>
            </a:r>
          </a:p>
          <a:p>
            <a:pPr>
              <a:buFont typeface="Wingdings" pitchFamily="2" charset="2"/>
              <a:buChar char="q"/>
            </a:pPr>
            <a:r>
              <a:rPr lang="en-US" b="1" dirty="0" smtClean="0"/>
              <a:t>Data Transfer &amp; Latency Issues</a:t>
            </a:r>
            <a:r>
              <a:rPr lang="en-US" dirty="0" smtClean="0"/>
              <a:t/>
            </a:r>
            <a:br>
              <a:rPr lang="en-US" dirty="0" smtClean="0"/>
            </a:br>
            <a:r>
              <a:rPr lang="en-US" dirty="0" smtClean="0"/>
              <a:t>Delay in accessing cloud services for remote users</a:t>
            </a:r>
          </a:p>
          <a:p>
            <a:pPr>
              <a:buFont typeface="Wingdings" pitchFamily="2" charset="2"/>
              <a:buChar char="q"/>
            </a:pPr>
            <a:r>
              <a:rPr lang="en-US" b="1" dirty="0" smtClean="0"/>
              <a:t>Vendor Lock-In</a:t>
            </a:r>
            <a:r>
              <a:rPr lang="en-US" dirty="0" smtClean="0"/>
              <a:t/>
            </a:r>
            <a:br>
              <a:rPr lang="en-US" dirty="0" smtClean="0"/>
            </a:br>
            <a:r>
              <a:rPr lang="en-US" dirty="0" smtClean="0"/>
              <a:t>Difficulty in switching between cloud providers</a:t>
            </a:r>
          </a:p>
          <a:p>
            <a:pPr>
              <a:buFont typeface="Wingdings" pitchFamily="2" charset="2"/>
              <a:buChar char="q"/>
            </a:pPr>
            <a:r>
              <a:rPr lang="en-US" b="1" dirty="0" smtClean="0"/>
              <a:t>Cost Management</a:t>
            </a:r>
            <a:r>
              <a:rPr lang="en-US" dirty="0" smtClean="0"/>
              <a:t/>
            </a:r>
            <a:br>
              <a:rPr lang="en-US" dirty="0" smtClean="0"/>
            </a:br>
            <a:r>
              <a:rPr lang="en-US" dirty="0" smtClean="0"/>
              <a:t>Improper resource usage can increase expenses</a:t>
            </a:r>
          </a:p>
          <a:p>
            <a:endParaRPr lang="en-US" dirty="0"/>
          </a:p>
        </p:txBody>
      </p:sp>
      <p:sp>
        <p:nvSpPr>
          <p:cNvPr id="3" name="TextBox 2"/>
          <p:cNvSpPr txBox="1"/>
          <p:nvPr/>
        </p:nvSpPr>
        <p:spPr>
          <a:xfrm>
            <a:off x="239712" y="427037"/>
            <a:ext cx="6400800" cy="646331"/>
          </a:xfrm>
          <a:prstGeom prst="rect">
            <a:avLst/>
          </a:prstGeom>
          <a:noFill/>
        </p:spPr>
        <p:txBody>
          <a:bodyPr wrap="square" rtlCol="0">
            <a:spAutoFit/>
          </a:bodyPr>
          <a:lstStyle/>
          <a:p>
            <a:r>
              <a:rPr lang="en-US" sz="3600" dirty="0" smtClean="0">
                <a:solidFill>
                  <a:schemeClr val="bg1"/>
                </a:solidFill>
              </a:rPr>
              <a:t>Challenges in Cloud Computing</a:t>
            </a:r>
            <a:endParaRPr lang="en-US" sz="36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522" y="427037"/>
            <a:ext cx="2672526" cy="646331"/>
          </a:xfrm>
          <a:prstGeom prst="rect">
            <a:avLst/>
          </a:prstGeom>
          <a:noFill/>
        </p:spPr>
        <p:txBody>
          <a:bodyPr wrap="none" rtlCol="0">
            <a:spAutoFit/>
          </a:bodyPr>
          <a:lstStyle/>
          <a:p>
            <a:r>
              <a:rPr lang="en-US" sz="3600" dirty="0">
                <a:solidFill>
                  <a:schemeClr val="bg1"/>
                </a:solidFill>
              </a:rPr>
              <a:t>Methodology</a:t>
            </a:r>
          </a:p>
        </p:txBody>
      </p:sp>
      <p:sp>
        <p:nvSpPr>
          <p:cNvPr id="3" name="Rectangle 2"/>
          <p:cNvSpPr/>
          <p:nvPr/>
        </p:nvSpPr>
        <p:spPr>
          <a:xfrm>
            <a:off x="315912" y="1646237"/>
            <a:ext cx="8458200" cy="3046988"/>
          </a:xfrm>
          <a:prstGeom prst="rect">
            <a:avLst/>
          </a:prstGeom>
        </p:spPr>
        <p:txBody>
          <a:bodyPr wrap="square">
            <a:spAutoFit/>
          </a:bodyPr>
          <a:lstStyle/>
          <a:p>
            <a:pPr algn="just">
              <a:buFont typeface="Wingdings" panose="05000000000000000000" pitchFamily="2" charset="2"/>
              <a:buChar char="q"/>
            </a:pPr>
            <a:r>
              <a:rPr lang="en-US" dirty="0" smtClean="0"/>
              <a:t>Problem Definition and Requirements Analysis</a:t>
            </a:r>
          </a:p>
          <a:p>
            <a:pPr algn="just">
              <a:buFont typeface="Wingdings" panose="05000000000000000000" pitchFamily="2" charset="2"/>
              <a:buChar char="q"/>
            </a:pPr>
            <a:r>
              <a:rPr lang="en-IN" dirty="0" smtClean="0"/>
              <a:t>System Design</a:t>
            </a:r>
            <a:endParaRPr lang="en-US" dirty="0" smtClean="0"/>
          </a:p>
          <a:p>
            <a:pPr algn="just">
              <a:buFont typeface="Wingdings" panose="05000000000000000000" pitchFamily="2" charset="2"/>
              <a:buChar char="q"/>
            </a:pPr>
            <a:r>
              <a:rPr lang="en-IN" dirty="0" smtClean="0"/>
              <a:t>Device and Sensor Integration</a:t>
            </a:r>
            <a:endParaRPr lang="en-US" dirty="0" smtClean="0"/>
          </a:p>
          <a:p>
            <a:pPr algn="just">
              <a:buFont typeface="Wingdings" panose="05000000000000000000" pitchFamily="2" charset="2"/>
              <a:buChar char="q"/>
            </a:pPr>
            <a:r>
              <a:rPr lang="en-IN" dirty="0" smtClean="0"/>
              <a:t>Data Processing and Analysis</a:t>
            </a:r>
            <a:endParaRPr lang="en-US" dirty="0" smtClean="0"/>
          </a:p>
          <a:p>
            <a:pPr algn="just">
              <a:buFont typeface="Wingdings" panose="05000000000000000000" pitchFamily="2" charset="2"/>
              <a:buChar char="q"/>
            </a:pPr>
            <a:r>
              <a:rPr lang="en-US" dirty="0" smtClean="0"/>
              <a:t>Application Development and User Interface</a:t>
            </a:r>
          </a:p>
          <a:p>
            <a:pPr algn="just">
              <a:buFont typeface="Wingdings" panose="05000000000000000000" pitchFamily="2" charset="2"/>
              <a:buChar char="q"/>
            </a:pPr>
            <a:r>
              <a:rPr lang="en-IN" dirty="0" smtClean="0"/>
              <a:t>Deployment and Testing</a:t>
            </a:r>
            <a:endParaRPr lang="en-US" dirty="0" smtClean="0"/>
          </a:p>
          <a:p>
            <a:pPr algn="just">
              <a:buFont typeface="Wingdings" panose="05000000000000000000" pitchFamily="2" charset="2"/>
              <a:buChar char="q"/>
            </a:pPr>
            <a:r>
              <a:rPr lang="en-IN" dirty="0" smtClean="0"/>
              <a:t>Maintenance and Monitoring</a:t>
            </a:r>
            <a:endParaRPr lang="en-US" dirty="0" smtClean="0"/>
          </a:p>
          <a:p>
            <a:pPr algn="just">
              <a:buFont typeface="Wingdings" panose="05000000000000000000" pitchFamily="2" charset="2"/>
              <a:buChar char="q"/>
            </a:pPr>
            <a:r>
              <a:rPr lang="en-IN" dirty="0" smtClean="0"/>
              <a:t>Security Measures</a:t>
            </a:r>
            <a:endParaRPr lang="en-US" dirty="0"/>
          </a:p>
        </p:txBody>
      </p:sp>
    </p:spTree>
    <p:extLst>
      <p:ext uri="{BB962C8B-B14F-4D97-AF65-F5344CB8AC3E}">
        <p14:creationId xmlns:p14="http://schemas.microsoft.com/office/powerpoint/2010/main" xmlns="" val="4091395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5911" y="408671"/>
            <a:ext cx="6147837" cy="646331"/>
          </a:xfrm>
          <a:prstGeom prst="rect">
            <a:avLst/>
          </a:prstGeom>
          <a:noFill/>
        </p:spPr>
        <p:txBody>
          <a:bodyPr wrap="none" rtlCol="0">
            <a:spAutoFit/>
          </a:bodyPr>
          <a:lstStyle/>
          <a:p>
            <a:r>
              <a:rPr lang="en-US" sz="3600" dirty="0">
                <a:solidFill>
                  <a:schemeClr val="bg1"/>
                </a:solidFill>
              </a:rPr>
              <a:t>Material and Facilities Required</a:t>
            </a:r>
          </a:p>
        </p:txBody>
      </p:sp>
      <p:sp>
        <p:nvSpPr>
          <p:cNvPr id="3" name="Rectangle 2"/>
          <p:cNvSpPr/>
          <p:nvPr/>
        </p:nvSpPr>
        <p:spPr>
          <a:xfrm>
            <a:off x="163512" y="1663382"/>
            <a:ext cx="8534400" cy="2954655"/>
          </a:xfrm>
          <a:prstGeom prst="rect">
            <a:avLst/>
          </a:prstGeom>
        </p:spPr>
        <p:txBody>
          <a:bodyPr wrap="square">
            <a:spAutoFit/>
          </a:bodyPr>
          <a:lstStyle/>
          <a:p>
            <a:pPr>
              <a:lnSpc>
                <a:spcPct val="150000"/>
              </a:lnSpc>
            </a:pPr>
            <a:r>
              <a:rPr lang="en-IN" sz="2800" dirty="0"/>
              <a:t>Materials Required:</a:t>
            </a:r>
          </a:p>
          <a:p>
            <a:pPr>
              <a:buFont typeface="Wingdings" panose="05000000000000000000" pitchFamily="2" charset="2"/>
              <a:buChar char="q"/>
            </a:pPr>
            <a:r>
              <a:rPr lang="en-IN" dirty="0"/>
              <a:t>Hardware:.</a:t>
            </a:r>
            <a:endParaRPr lang="en-US" dirty="0"/>
          </a:p>
          <a:p>
            <a:pPr>
              <a:buFont typeface="Wingdings" panose="05000000000000000000" pitchFamily="2" charset="2"/>
              <a:buChar char="q"/>
            </a:pPr>
            <a:r>
              <a:rPr lang="en-IN" dirty="0"/>
              <a:t>Software:</a:t>
            </a:r>
          </a:p>
          <a:p>
            <a:pPr>
              <a:buFont typeface="Wingdings" panose="05000000000000000000" pitchFamily="2" charset="2"/>
              <a:buChar char="q"/>
            </a:pPr>
            <a:r>
              <a:rPr lang="en-IN" dirty="0"/>
              <a:t>Networking Equipment:</a:t>
            </a:r>
          </a:p>
          <a:p>
            <a:pPr>
              <a:buFont typeface="Wingdings" panose="05000000000000000000" pitchFamily="2" charset="2"/>
              <a:buChar char="q"/>
            </a:pPr>
            <a:r>
              <a:rPr lang="en-IN" dirty="0"/>
              <a:t>Testing and Debugging Tools:</a:t>
            </a:r>
          </a:p>
          <a:p>
            <a:pPr>
              <a:buFont typeface="Wingdings" panose="05000000000000000000" pitchFamily="2" charset="2"/>
              <a:buChar char="q"/>
            </a:pPr>
            <a:r>
              <a:rPr lang="en-IN" dirty="0"/>
              <a:t>Facilities:</a:t>
            </a:r>
          </a:p>
          <a:p>
            <a:pPr>
              <a:buFont typeface="Wingdings" panose="05000000000000000000" pitchFamily="2" charset="2"/>
              <a:buChar char="q"/>
            </a:pPr>
            <a:r>
              <a:rPr lang="en-IN" dirty="0"/>
              <a:t>Personnel:</a:t>
            </a:r>
            <a:endParaRPr lang="en-US" dirty="0"/>
          </a:p>
        </p:txBody>
      </p:sp>
    </p:spTree>
    <p:extLst>
      <p:ext uri="{BB962C8B-B14F-4D97-AF65-F5344CB8AC3E}">
        <p14:creationId xmlns:p14="http://schemas.microsoft.com/office/powerpoint/2010/main" xmlns="" val="4196868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512" y="1570037"/>
            <a:ext cx="9677400" cy="4893647"/>
          </a:xfrm>
          <a:prstGeom prst="rect">
            <a:avLst/>
          </a:prstGeom>
        </p:spPr>
        <p:txBody>
          <a:bodyPr wrap="square">
            <a:spAutoFit/>
          </a:bodyPr>
          <a:lstStyle/>
          <a:p>
            <a:pPr lvl="0">
              <a:buFont typeface="Wingdings" panose="05000000000000000000" pitchFamily="2" charset="2"/>
              <a:buChar char="q"/>
            </a:pPr>
            <a:r>
              <a:rPr lang="en-US" dirty="0" smtClean="0"/>
              <a:t>Cloud Computing and Its Applications P. </a:t>
            </a:r>
            <a:r>
              <a:rPr lang="en-US" dirty="0" err="1" smtClean="0"/>
              <a:t>Mell</a:t>
            </a:r>
            <a:r>
              <a:rPr lang="en-US" dirty="0" smtClean="0"/>
              <a:t> and T. </a:t>
            </a:r>
            <a:r>
              <a:rPr lang="en-US" dirty="0" err="1" smtClean="0"/>
              <a:t>Grance</a:t>
            </a:r>
            <a:r>
              <a:rPr lang="en-US" dirty="0" smtClean="0"/>
              <a:t>, ―The NIST Definition of Cloud Computing,‖ National Institute of Standards and Technology, Special Publication 800-145, 2011. doi:10.6028/NIST.SP.800-145 </a:t>
            </a:r>
          </a:p>
          <a:p>
            <a:pPr lvl="0">
              <a:buFont typeface="Wingdings" panose="05000000000000000000" pitchFamily="2" charset="2"/>
              <a:buChar char="q"/>
            </a:pPr>
            <a:endParaRPr lang="en-US" dirty="0" smtClean="0"/>
          </a:p>
          <a:p>
            <a:pPr lvl="0">
              <a:buFont typeface="Wingdings" panose="05000000000000000000" pitchFamily="2" charset="2"/>
              <a:buChar char="q"/>
            </a:pPr>
            <a:r>
              <a:rPr lang="en-US" dirty="0" smtClean="0"/>
              <a:t>A Survey on Cloud Computing: Architecture, Services, and Challenges M. </a:t>
            </a:r>
            <a:r>
              <a:rPr lang="en-US" dirty="0" err="1" smtClean="0"/>
              <a:t>Armbrust</a:t>
            </a:r>
            <a:r>
              <a:rPr lang="en-US" dirty="0" smtClean="0"/>
              <a:t> et al., ―A View of Cloud Computing,‖ Communications of the ACM, vol. 53, no. 4, pp. 50 58, 2010. doi:10.1145/1721654.1721672</a:t>
            </a:r>
          </a:p>
          <a:p>
            <a:pPr lvl="0">
              <a:buFont typeface="Wingdings" panose="05000000000000000000" pitchFamily="2" charset="2"/>
              <a:buChar char="q"/>
            </a:pPr>
            <a:endParaRPr lang="en-US" dirty="0" smtClean="0"/>
          </a:p>
          <a:p>
            <a:pPr lvl="0">
              <a:buFont typeface="Wingdings" panose="05000000000000000000" pitchFamily="2" charset="2"/>
              <a:buChar char="q"/>
            </a:pPr>
            <a:r>
              <a:rPr lang="en-US" dirty="0" smtClean="0"/>
              <a:t>Security and Privacy in Cloud Computing S. </a:t>
            </a:r>
            <a:r>
              <a:rPr lang="en-US" dirty="0" err="1" smtClean="0"/>
              <a:t>Subashini</a:t>
            </a:r>
            <a:r>
              <a:rPr lang="en-US" dirty="0" smtClean="0"/>
              <a:t> and V. </a:t>
            </a:r>
            <a:r>
              <a:rPr lang="en-US" dirty="0" err="1" smtClean="0"/>
              <a:t>Kavitha</a:t>
            </a:r>
            <a:r>
              <a:rPr lang="en-US" dirty="0" smtClean="0"/>
              <a:t>, ―A Survey on Security Issues in Service Delivery Models of Cloud Computing,‖ Journal of Network and Computer Applications, vol. 34, no. 1, pp. 1–11, 2011. doi:10.1016/j.jnca.2010.07.006</a:t>
            </a:r>
            <a:endParaRPr lang="en-US" dirty="0"/>
          </a:p>
        </p:txBody>
      </p:sp>
      <p:sp>
        <p:nvSpPr>
          <p:cNvPr id="3" name="TextBox 2"/>
          <p:cNvSpPr txBox="1"/>
          <p:nvPr/>
        </p:nvSpPr>
        <p:spPr>
          <a:xfrm>
            <a:off x="148604" y="427037"/>
            <a:ext cx="2236510" cy="646331"/>
          </a:xfrm>
          <a:prstGeom prst="rect">
            <a:avLst/>
          </a:prstGeom>
          <a:noFill/>
        </p:spPr>
        <p:txBody>
          <a:bodyPr wrap="none" rtlCol="0">
            <a:spAutoFit/>
          </a:bodyPr>
          <a:lstStyle/>
          <a:p>
            <a:r>
              <a:rPr lang="en-US" sz="3600" dirty="0" smtClean="0">
                <a:solidFill>
                  <a:schemeClr val="bg1"/>
                </a:solidFill>
              </a:rPr>
              <a:t>References</a:t>
            </a:r>
            <a:endParaRPr lang="en-US" sz="3600" dirty="0">
              <a:solidFill>
                <a:schemeClr val="bg1"/>
              </a:solidFill>
            </a:endParaRPr>
          </a:p>
        </p:txBody>
      </p:sp>
    </p:spTree>
    <p:extLst>
      <p:ext uri="{BB962C8B-B14F-4D97-AF65-F5344CB8AC3E}">
        <p14:creationId xmlns:p14="http://schemas.microsoft.com/office/powerpoint/2010/main" xmlns="" val="17883540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13471</TotalTime>
  <Words>1218</Words>
  <Application>Microsoft Office PowerPoint</Application>
  <PresentationFormat>Custom</PresentationFormat>
  <Paragraphs>153</Paragraphs>
  <Slides>17</Slides>
  <Notes>2</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Default Design</vt:lpstr>
      <vt:lpstr>Office Theme</vt:lpstr>
      <vt:lpstr> Jaipur Engineering College &amp; Research Centre  Department of Computer Science and Engineering</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lakshya</dc:creator>
  <cp:lastModifiedBy>Windows User</cp:lastModifiedBy>
  <cp:revision>54</cp:revision>
  <dcterms:created xsi:type="dcterms:W3CDTF">2002-10-10T16:43:00Z</dcterms:created>
  <dcterms:modified xsi:type="dcterms:W3CDTF">2025-11-05T10:20:43Z</dcterms:modified>
</cp:coreProperties>
</file>